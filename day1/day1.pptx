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9" r:id="rId2"/>
    <p:sldId id="319" r:id="rId3"/>
    <p:sldId id="311" r:id="rId4"/>
    <p:sldId id="312" r:id="rId5"/>
    <p:sldId id="313" r:id="rId6"/>
    <p:sldId id="314" r:id="rId7"/>
    <p:sldId id="315" r:id="rId8"/>
    <p:sldId id="316" r:id="rId9"/>
    <p:sldId id="317" r:id="rId10"/>
    <p:sldId id="318" r:id="rId11"/>
    <p:sldId id="334" r:id="rId12"/>
    <p:sldId id="329" r:id="rId13"/>
    <p:sldId id="330" r:id="rId14"/>
    <p:sldId id="331" r:id="rId15"/>
    <p:sldId id="332" r:id="rId16"/>
    <p:sldId id="320" r:id="rId17"/>
    <p:sldId id="328" r:id="rId18"/>
    <p:sldId id="321" r:id="rId19"/>
    <p:sldId id="322" r:id="rId20"/>
    <p:sldId id="323" r:id="rId21"/>
    <p:sldId id="324" r:id="rId22"/>
    <p:sldId id="326" r:id="rId23"/>
    <p:sldId id="333" r:id="rId24"/>
    <p:sldId id="32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0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1"/>
    <p:restoredTop sz="94391" autoAdjust="0"/>
  </p:normalViewPr>
  <p:slideViewPr>
    <p:cSldViewPr snapToGrid="0">
      <p:cViewPr varScale="1">
        <p:scale>
          <a:sx n="82" d="100"/>
          <a:sy n="82" d="100"/>
        </p:scale>
        <p:origin x="570"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9828D1-B772-244D-B964-2FE97C54F626}" type="datetimeFigureOut">
              <a:rPr lang="en-US" smtClean="0"/>
              <a:t>18-Jun-26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3A340-DB50-0C4C-9E54-EECA7285ECF4}" type="slidenum">
              <a:rPr lang="en-US" smtClean="0"/>
              <a:t>‹#›</a:t>
            </a:fld>
            <a:endParaRPr lang="en-US"/>
          </a:p>
        </p:txBody>
      </p:sp>
    </p:spTree>
    <p:extLst>
      <p:ext uri="{BB962C8B-B14F-4D97-AF65-F5344CB8AC3E}">
        <p14:creationId xmlns:p14="http://schemas.microsoft.com/office/powerpoint/2010/main" val="4228694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0860-65BE-75BE-A2E6-E8469321B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79B5F-8D5B-0AB3-3CB5-C498D8219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1251A-5B4B-BE70-C90B-5FE7D5AA9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03E2A-D219-0E6F-A288-8128FBA8CFFE}"/>
              </a:ext>
            </a:extLst>
          </p:cNvPr>
          <p:cNvSpPr>
            <a:spLocks noGrp="1"/>
          </p:cNvSpPr>
          <p:nvPr>
            <p:ph type="sldNum" sz="quarter" idx="5"/>
          </p:nvPr>
        </p:nvSpPr>
        <p:spPr/>
        <p:txBody>
          <a:bodyPr/>
          <a:lstStyle/>
          <a:p>
            <a:fld id="{01BEA062-9530-634C-9979-233523B442C5}" type="slidenum">
              <a:rPr lang="en-US" smtClean="0"/>
              <a:t>2</a:t>
            </a:fld>
            <a:endParaRPr lang="en-US"/>
          </a:p>
        </p:txBody>
      </p:sp>
    </p:spTree>
    <p:extLst>
      <p:ext uri="{BB962C8B-B14F-4D97-AF65-F5344CB8AC3E}">
        <p14:creationId xmlns:p14="http://schemas.microsoft.com/office/powerpoint/2010/main" val="937202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F37EA-C190-AE23-7DCA-9A28F324C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E25C5-7541-A1D9-001D-75D60A586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9ADEF-8BA1-DE80-B648-7B4719842D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628525-8A47-E118-8A65-C0C92FCC64D0}"/>
              </a:ext>
            </a:extLst>
          </p:cNvPr>
          <p:cNvSpPr>
            <a:spLocks noGrp="1"/>
          </p:cNvSpPr>
          <p:nvPr>
            <p:ph type="sldNum" sz="quarter" idx="5"/>
          </p:nvPr>
        </p:nvSpPr>
        <p:spPr/>
        <p:txBody>
          <a:bodyPr/>
          <a:lstStyle/>
          <a:p>
            <a:fld id="{01BEA062-9530-634C-9979-233523B442C5}" type="slidenum">
              <a:rPr lang="en-US" smtClean="0"/>
              <a:t>3</a:t>
            </a:fld>
            <a:endParaRPr lang="en-US"/>
          </a:p>
        </p:txBody>
      </p:sp>
    </p:spTree>
    <p:extLst>
      <p:ext uri="{BB962C8B-B14F-4D97-AF65-F5344CB8AC3E}">
        <p14:creationId xmlns:p14="http://schemas.microsoft.com/office/powerpoint/2010/main" val="1839062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0860-65BE-75BE-A2E6-E8469321B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79B5F-8D5B-0AB3-3CB5-C498D8219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1251A-5B4B-BE70-C90B-5FE7D5AA9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03E2A-D219-0E6F-A288-8128FBA8CFFE}"/>
              </a:ext>
            </a:extLst>
          </p:cNvPr>
          <p:cNvSpPr>
            <a:spLocks noGrp="1"/>
          </p:cNvSpPr>
          <p:nvPr>
            <p:ph type="sldNum" sz="quarter" idx="5"/>
          </p:nvPr>
        </p:nvSpPr>
        <p:spPr/>
        <p:txBody>
          <a:bodyPr/>
          <a:lstStyle/>
          <a:p>
            <a:fld id="{01BEA062-9530-634C-9979-233523B442C5}" type="slidenum">
              <a:rPr lang="en-US" smtClean="0"/>
              <a:t>4</a:t>
            </a:fld>
            <a:endParaRPr lang="en-US"/>
          </a:p>
        </p:txBody>
      </p:sp>
    </p:spTree>
    <p:extLst>
      <p:ext uri="{BB962C8B-B14F-4D97-AF65-F5344CB8AC3E}">
        <p14:creationId xmlns:p14="http://schemas.microsoft.com/office/powerpoint/2010/main" val="4088628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55A37-79F9-AD10-10B3-8287DE697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2EB50-D1F1-DD94-DF61-8E848514F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88BA8-F7EA-1FD0-EDD2-D379E20B46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CF05BB-D960-8CF4-3DB6-9A25F3A7D8E1}"/>
              </a:ext>
            </a:extLst>
          </p:cNvPr>
          <p:cNvSpPr>
            <a:spLocks noGrp="1"/>
          </p:cNvSpPr>
          <p:nvPr>
            <p:ph type="sldNum" sz="quarter" idx="5"/>
          </p:nvPr>
        </p:nvSpPr>
        <p:spPr/>
        <p:txBody>
          <a:bodyPr/>
          <a:lstStyle/>
          <a:p>
            <a:fld id="{01BEA062-9530-634C-9979-233523B442C5}" type="slidenum">
              <a:rPr lang="en-US" smtClean="0"/>
              <a:t>5</a:t>
            </a:fld>
            <a:endParaRPr lang="en-US"/>
          </a:p>
        </p:txBody>
      </p:sp>
    </p:spTree>
    <p:extLst>
      <p:ext uri="{BB962C8B-B14F-4D97-AF65-F5344CB8AC3E}">
        <p14:creationId xmlns:p14="http://schemas.microsoft.com/office/powerpoint/2010/main" val="2149190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63FD-51D1-7828-7D7B-F6DA9E24F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C94E5-A136-81FD-9199-12FDD0516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DE6B1-2859-C8B4-3323-92D7B4AA7F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8E352F-DF3C-5442-B8DE-9C6DE5754DB0}"/>
              </a:ext>
            </a:extLst>
          </p:cNvPr>
          <p:cNvSpPr>
            <a:spLocks noGrp="1"/>
          </p:cNvSpPr>
          <p:nvPr>
            <p:ph type="sldNum" sz="quarter" idx="5"/>
          </p:nvPr>
        </p:nvSpPr>
        <p:spPr/>
        <p:txBody>
          <a:bodyPr/>
          <a:lstStyle/>
          <a:p>
            <a:fld id="{01BEA062-9530-634C-9979-233523B442C5}" type="slidenum">
              <a:rPr lang="en-US" smtClean="0"/>
              <a:t>6</a:t>
            </a:fld>
            <a:endParaRPr lang="en-US"/>
          </a:p>
        </p:txBody>
      </p:sp>
    </p:spTree>
    <p:extLst>
      <p:ext uri="{BB962C8B-B14F-4D97-AF65-F5344CB8AC3E}">
        <p14:creationId xmlns:p14="http://schemas.microsoft.com/office/powerpoint/2010/main" val="2732366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5FF9E-52D2-6B30-7329-170EC644A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68300-A539-AF03-A773-94491BE8B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BE45E-EDFF-8A56-33BD-4C3A45823B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20B067-444C-13C6-DA83-E7619FE08BF4}"/>
              </a:ext>
            </a:extLst>
          </p:cNvPr>
          <p:cNvSpPr>
            <a:spLocks noGrp="1"/>
          </p:cNvSpPr>
          <p:nvPr>
            <p:ph type="sldNum" sz="quarter" idx="5"/>
          </p:nvPr>
        </p:nvSpPr>
        <p:spPr/>
        <p:txBody>
          <a:bodyPr/>
          <a:lstStyle/>
          <a:p>
            <a:fld id="{01BEA062-9530-634C-9979-233523B442C5}" type="slidenum">
              <a:rPr lang="en-US" smtClean="0"/>
              <a:t>7</a:t>
            </a:fld>
            <a:endParaRPr lang="en-US"/>
          </a:p>
        </p:txBody>
      </p:sp>
    </p:spTree>
    <p:extLst>
      <p:ext uri="{BB962C8B-B14F-4D97-AF65-F5344CB8AC3E}">
        <p14:creationId xmlns:p14="http://schemas.microsoft.com/office/powerpoint/2010/main" val="2730518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3259F-2DBB-034F-9CFE-E02BBDCAE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04547-2B81-B974-B5B6-62E528261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E2C84-D18F-0A4B-63FB-66D5121B0B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D21CC1-6052-A1C1-31DD-3D364D27F328}"/>
              </a:ext>
            </a:extLst>
          </p:cNvPr>
          <p:cNvSpPr>
            <a:spLocks noGrp="1"/>
          </p:cNvSpPr>
          <p:nvPr>
            <p:ph type="sldNum" sz="quarter" idx="5"/>
          </p:nvPr>
        </p:nvSpPr>
        <p:spPr/>
        <p:txBody>
          <a:bodyPr/>
          <a:lstStyle/>
          <a:p>
            <a:fld id="{01BEA062-9530-634C-9979-233523B442C5}" type="slidenum">
              <a:rPr lang="en-US" smtClean="0"/>
              <a:t>8</a:t>
            </a:fld>
            <a:endParaRPr lang="en-US"/>
          </a:p>
        </p:txBody>
      </p:sp>
    </p:spTree>
    <p:extLst>
      <p:ext uri="{BB962C8B-B14F-4D97-AF65-F5344CB8AC3E}">
        <p14:creationId xmlns:p14="http://schemas.microsoft.com/office/powerpoint/2010/main" val="2105003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A804-5C1F-5BE4-7B9C-EF2EE767F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5EE1F-3C3F-AA06-2D82-A0166042B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25F2E-D165-B964-2159-ADF449DD64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6D975F-981A-3632-4C9E-AAFB55C84312}"/>
              </a:ext>
            </a:extLst>
          </p:cNvPr>
          <p:cNvSpPr>
            <a:spLocks noGrp="1"/>
          </p:cNvSpPr>
          <p:nvPr>
            <p:ph type="sldNum" sz="quarter" idx="5"/>
          </p:nvPr>
        </p:nvSpPr>
        <p:spPr/>
        <p:txBody>
          <a:bodyPr/>
          <a:lstStyle/>
          <a:p>
            <a:fld id="{01BEA062-9530-634C-9979-233523B442C5}" type="slidenum">
              <a:rPr lang="en-US" smtClean="0"/>
              <a:t>9</a:t>
            </a:fld>
            <a:endParaRPr lang="en-US"/>
          </a:p>
        </p:txBody>
      </p:sp>
    </p:spTree>
    <p:extLst>
      <p:ext uri="{BB962C8B-B14F-4D97-AF65-F5344CB8AC3E}">
        <p14:creationId xmlns:p14="http://schemas.microsoft.com/office/powerpoint/2010/main" val="897175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10</a:t>
            </a:fld>
            <a:endParaRPr lang="en-US"/>
          </a:p>
        </p:txBody>
      </p:sp>
    </p:spTree>
    <p:extLst>
      <p:ext uri="{BB962C8B-B14F-4D97-AF65-F5344CB8AC3E}">
        <p14:creationId xmlns:p14="http://schemas.microsoft.com/office/powerpoint/2010/main" val="2297802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11</a:t>
            </a:fld>
            <a:endParaRPr lang="en-US"/>
          </a:p>
        </p:txBody>
      </p:sp>
    </p:spTree>
    <p:extLst>
      <p:ext uri="{BB962C8B-B14F-4D97-AF65-F5344CB8AC3E}">
        <p14:creationId xmlns:p14="http://schemas.microsoft.com/office/powerpoint/2010/main" val="1182014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12</a:t>
            </a:fld>
            <a:endParaRPr lang="en-US"/>
          </a:p>
        </p:txBody>
      </p:sp>
    </p:spTree>
    <p:extLst>
      <p:ext uri="{BB962C8B-B14F-4D97-AF65-F5344CB8AC3E}">
        <p14:creationId xmlns:p14="http://schemas.microsoft.com/office/powerpoint/2010/main" val="4257841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13</a:t>
            </a:fld>
            <a:endParaRPr lang="en-US"/>
          </a:p>
        </p:txBody>
      </p:sp>
    </p:spTree>
    <p:extLst>
      <p:ext uri="{BB962C8B-B14F-4D97-AF65-F5344CB8AC3E}">
        <p14:creationId xmlns:p14="http://schemas.microsoft.com/office/powerpoint/2010/main" val="3940086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14</a:t>
            </a:fld>
            <a:endParaRPr lang="en-US"/>
          </a:p>
        </p:txBody>
      </p:sp>
    </p:spTree>
    <p:extLst>
      <p:ext uri="{BB962C8B-B14F-4D97-AF65-F5344CB8AC3E}">
        <p14:creationId xmlns:p14="http://schemas.microsoft.com/office/powerpoint/2010/main" val="131514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15</a:t>
            </a:fld>
            <a:endParaRPr lang="en-US"/>
          </a:p>
        </p:txBody>
      </p:sp>
    </p:spTree>
    <p:extLst>
      <p:ext uri="{BB962C8B-B14F-4D97-AF65-F5344CB8AC3E}">
        <p14:creationId xmlns:p14="http://schemas.microsoft.com/office/powerpoint/2010/main" val="3875908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16</a:t>
            </a:fld>
            <a:endParaRPr lang="en-US"/>
          </a:p>
        </p:txBody>
      </p:sp>
    </p:spTree>
    <p:extLst>
      <p:ext uri="{BB962C8B-B14F-4D97-AF65-F5344CB8AC3E}">
        <p14:creationId xmlns:p14="http://schemas.microsoft.com/office/powerpoint/2010/main" val="1884376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17</a:t>
            </a:fld>
            <a:endParaRPr lang="en-US"/>
          </a:p>
        </p:txBody>
      </p:sp>
    </p:spTree>
    <p:extLst>
      <p:ext uri="{BB962C8B-B14F-4D97-AF65-F5344CB8AC3E}">
        <p14:creationId xmlns:p14="http://schemas.microsoft.com/office/powerpoint/2010/main" val="2404692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18</a:t>
            </a:fld>
            <a:endParaRPr lang="en-US"/>
          </a:p>
        </p:txBody>
      </p:sp>
    </p:spTree>
    <p:extLst>
      <p:ext uri="{BB962C8B-B14F-4D97-AF65-F5344CB8AC3E}">
        <p14:creationId xmlns:p14="http://schemas.microsoft.com/office/powerpoint/2010/main" val="81271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19</a:t>
            </a:fld>
            <a:endParaRPr lang="en-US"/>
          </a:p>
        </p:txBody>
      </p:sp>
    </p:spTree>
    <p:extLst>
      <p:ext uri="{BB962C8B-B14F-4D97-AF65-F5344CB8AC3E}">
        <p14:creationId xmlns:p14="http://schemas.microsoft.com/office/powerpoint/2010/main" val="3710985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20</a:t>
            </a:fld>
            <a:endParaRPr lang="en-US"/>
          </a:p>
        </p:txBody>
      </p:sp>
    </p:spTree>
    <p:extLst>
      <p:ext uri="{BB962C8B-B14F-4D97-AF65-F5344CB8AC3E}">
        <p14:creationId xmlns:p14="http://schemas.microsoft.com/office/powerpoint/2010/main" val="2930748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21</a:t>
            </a:fld>
            <a:endParaRPr lang="en-US"/>
          </a:p>
        </p:txBody>
      </p:sp>
    </p:spTree>
    <p:extLst>
      <p:ext uri="{BB962C8B-B14F-4D97-AF65-F5344CB8AC3E}">
        <p14:creationId xmlns:p14="http://schemas.microsoft.com/office/powerpoint/2010/main" val="3586305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22</a:t>
            </a:fld>
            <a:endParaRPr lang="en-US"/>
          </a:p>
        </p:txBody>
      </p:sp>
    </p:spTree>
    <p:extLst>
      <p:ext uri="{BB962C8B-B14F-4D97-AF65-F5344CB8AC3E}">
        <p14:creationId xmlns:p14="http://schemas.microsoft.com/office/powerpoint/2010/main" val="101005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23</a:t>
            </a:fld>
            <a:endParaRPr lang="en-US"/>
          </a:p>
        </p:txBody>
      </p:sp>
    </p:spTree>
    <p:extLst>
      <p:ext uri="{BB962C8B-B14F-4D97-AF65-F5344CB8AC3E}">
        <p14:creationId xmlns:p14="http://schemas.microsoft.com/office/powerpoint/2010/main" val="1862648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A8B1-C6F5-DA64-810B-08EC676F5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135F-E1B9-D5D7-5F89-41543EE4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058-02F8-8CE0-1E9B-47956CBA7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E360B-392B-378F-A469-08D176D3F30A}"/>
              </a:ext>
            </a:extLst>
          </p:cNvPr>
          <p:cNvSpPr>
            <a:spLocks noGrp="1"/>
          </p:cNvSpPr>
          <p:nvPr>
            <p:ph type="sldNum" sz="quarter" idx="5"/>
          </p:nvPr>
        </p:nvSpPr>
        <p:spPr/>
        <p:txBody>
          <a:bodyPr/>
          <a:lstStyle/>
          <a:p>
            <a:fld id="{01BEA062-9530-634C-9979-233523B442C5}" type="slidenum">
              <a:rPr lang="en-US" smtClean="0"/>
              <a:t>24</a:t>
            </a:fld>
            <a:endParaRPr lang="en-US"/>
          </a:p>
        </p:txBody>
      </p:sp>
    </p:spTree>
    <p:extLst>
      <p:ext uri="{BB962C8B-B14F-4D97-AF65-F5344CB8AC3E}">
        <p14:creationId xmlns:p14="http://schemas.microsoft.com/office/powerpoint/2010/main" val="2674466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6A5F-F797-D2AD-D79A-BC8D19D8135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372A627-1B69-3314-AD1E-FD02CA027E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AFBD6A0-8660-D95E-AD2B-958C9BB167A8}"/>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808F36DF-8E5D-4B4C-8675-AC0AC6677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5E03CB-03B7-1FAA-62A6-0FC0762D5CB9}"/>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376362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3F69-85C0-CF36-DE73-D7CAA6AC94B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3DEA644-5D7E-E214-32CD-FE4325FB89E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45F346-85AF-667B-EF3F-B50B1783E118}"/>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B7CFE39C-3EEC-3324-4D27-5570A66B6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0864D-D083-8251-0E44-B9DF351FB930}"/>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3224886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025B-054D-14A0-A8CF-A838F72E6B8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C5F4A04-08B7-37A9-D5CE-63B2E6AF16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49DFCE-F700-52AB-BF83-42E268167084}"/>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1205BBFB-CDC5-6EBC-1116-F0A6405DB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BF630-3F3E-3653-1F01-DE5BEC0F3C8B}"/>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214493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6CF2C-92A0-9335-FD40-8173E08A273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0609692-15E9-2D51-6E8A-6E950A0A1F3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5B797B7-3E4B-766B-6236-443689CB737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DDFFE99-D0C3-8B18-0515-6B32BB654D51}"/>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6" name="Footer Placeholder 5">
            <a:extLst>
              <a:ext uri="{FF2B5EF4-FFF2-40B4-BE49-F238E27FC236}">
                <a16:creationId xmlns:a16="http://schemas.microsoft.com/office/drawing/2014/main" id="{862803FA-6F61-FB69-BA4C-F7A17CDFE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ED3F6-1812-3770-D829-7A7505768877}"/>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298465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E3F3-F2AF-B6C9-426B-5A8C2E18782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7A26856-D2F9-4DDD-6EAC-666B767C4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6BC108-D6C1-28C9-7112-91F0E9B3AF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79B6DE9-FEA0-2A74-9197-B5446F17DD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FAD2A76-6F1B-7475-2CA4-0DF97507301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FC24D44-7075-2CA6-8D10-61520CE8988B}"/>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8" name="Footer Placeholder 7">
            <a:extLst>
              <a:ext uri="{FF2B5EF4-FFF2-40B4-BE49-F238E27FC236}">
                <a16:creationId xmlns:a16="http://schemas.microsoft.com/office/drawing/2014/main" id="{1856C7A1-8F75-9BB2-958E-D82D04D952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5BE5DE-94CC-6FF4-8452-205177035B8E}"/>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232829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9312-5BA1-6522-17AB-F027D1ABC8F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34AA9F5-EF1C-9FA3-25FA-6CB4CEB354A2}"/>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4" name="Footer Placeholder 3">
            <a:extLst>
              <a:ext uri="{FF2B5EF4-FFF2-40B4-BE49-F238E27FC236}">
                <a16:creationId xmlns:a16="http://schemas.microsoft.com/office/drawing/2014/main" id="{161EE6EA-0B07-91A6-A296-CC1B204BD4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CE80F2-C570-9797-F3DC-D10EAD9789DA}"/>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690173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6EDC87-4C4F-2ACE-350F-CFB8C6B1C949}"/>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3" name="Footer Placeholder 2">
            <a:extLst>
              <a:ext uri="{FF2B5EF4-FFF2-40B4-BE49-F238E27FC236}">
                <a16:creationId xmlns:a16="http://schemas.microsoft.com/office/drawing/2014/main" id="{DD0C7E55-5CAD-E311-5DF6-BA52E78103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F444D7-553B-CAB7-675D-E4B8C3F0742D}"/>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1902328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7A86C-CC3D-E55F-760D-A1706971D9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5036F5B-EFC9-3F11-296D-31B397FA10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637EFFC-6184-431B-43C2-82D7CCC26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7572E0-4FEB-63E1-E053-C7B05A4BAECF}"/>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6" name="Footer Placeholder 5">
            <a:extLst>
              <a:ext uri="{FF2B5EF4-FFF2-40B4-BE49-F238E27FC236}">
                <a16:creationId xmlns:a16="http://schemas.microsoft.com/office/drawing/2014/main" id="{A7687057-2532-A8F8-A373-DDFABAB61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D4E69D-45E0-EEC6-D6C6-16E6B37D5761}"/>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94726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CBF5-7823-D981-C41C-4D29BA2F441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A83542B-483B-38EF-D759-041BBF253C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2CF29A-6373-6D97-D46D-D09699A03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1FF234-4ADE-BF42-EA4F-C9FC95E1C681}"/>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6" name="Footer Placeholder 5">
            <a:extLst>
              <a:ext uri="{FF2B5EF4-FFF2-40B4-BE49-F238E27FC236}">
                <a16:creationId xmlns:a16="http://schemas.microsoft.com/office/drawing/2014/main" id="{AE9D8E93-A5CC-D13A-5A88-908FBD4C19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16EEA7-0378-1533-F1D7-009F25801DCA}"/>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1909485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6987-BED8-74FA-AE12-1F4BF4064C1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8F7F4BE-37BF-7607-34EC-33FA1C04B0B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A3275E-66D5-1B99-63C2-1F97C3636B68}"/>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76203918-6574-1E39-AD30-7D1A72B92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D17B3-09BE-8131-410D-A4D9DB76FF2D}"/>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3272512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F46AE6-4B11-F88A-F366-1F7E4CC9EF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917A5E-7A92-666E-EED7-D529629FBAB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F496CF3-984A-92D9-4C4A-91008BFADAB7}"/>
              </a:ext>
            </a:extLst>
          </p:cNvPr>
          <p:cNvSpPr>
            <a:spLocks noGrp="1"/>
          </p:cNvSpPr>
          <p:nvPr>
            <p:ph type="dt" sz="half" idx="10"/>
          </p:nvPr>
        </p:nvSpPr>
        <p:spPr/>
        <p:txBody>
          <a:body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B44B18FF-5B46-FBAF-BD62-21AF07AA4E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CFDED-D644-B133-D4A2-DD072FE62153}"/>
              </a:ext>
            </a:extLst>
          </p:cNvPr>
          <p:cNvSpPr>
            <a:spLocks noGrp="1"/>
          </p:cNvSpPr>
          <p:nvPr>
            <p:ph type="sldNum" sz="quarter" idx="12"/>
          </p:nvPr>
        </p:nvSpPr>
        <p:spPr/>
        <p:txBody>
          <a:bodyPr/>
          <a:lstStyle/>
          <a:p>
            <a:fld id="{8B7A3AA3-C874-5945-9549-F00DB438F30F}" type="slidenum">
              <a:rPr lang="en-US" smtClean="0"/>
              <a:t>‹#›</a:t>
            </a:fld>
            <a:endParaRPr lang="en-US"/>
          </a:p>
        </p:txBody>
      </p:sp>
    </p:spTree>
    <p:extLst>
      <p:ext uri="{BB962C8B-B14F-4D97-AF65-F5344CB8AC3E}">
        <p14:creationId xmlns:p14="http://schemas.microsoft.com/office/powerpoint/2010/main" val="1052822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A7C39-2AB6-5B95-4BDD-3C7F9D560B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5105631-70D2-1C9E-E64A-438B1D5FF7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2296A0-5A97-BE96-6E4A-0B8CFC7372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3B2E93-D4AB-8343-B1B1-0EF578B2BCB2}" type="datetimeFigureOut">
              <a:rPr lang="en-US" smtClean="0"/>
              <a:t>18-Jun-26</a:t>
            </a:fld>
            <a:endParaRPr lang="en-US"/>
          </a:p>
        </p:txBody>
      </p:sp>
      <p:sp>
        <p:nvSpPr>
          <p:cNvPr id="5" name="Footer Placeholder 4">
            <a:extLst>
              <a:ext uri="{FF2B5EF4-FFF2-40B4-BE49-F238E27FC236}">
                <a16:creationId xmlns:a16="http://schemas.microsoft.com/office/drawing/2014/main" id="{FB612DAF-3DC1-CB49-22F2-4B7E47747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30A359-9B95-B375-8340-170372611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7A3AA3-C874-5945-9549-F00DB438F30F}" type="slidenum">
              <a:rPr lang="en-US" smtClean="0"/>
              <a:t>‹#›</a:t>
            </a:fld>
            <a:endParaRPr lang="en-US"/>
          </a:p>
        </p:txBody>
      </p:sp>
    </p:spTree>
    <p:extLst>
      <p:ext uri="{BB962C8B-B14F-4D97-AF65-F5344CB8AC3E}">
        <p14:creationId xmlns:p14="http://schemas.microsoft.com/office/powerpoint/2010/main" val="1391494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ersiloshaj.github.io/dataAnalyticsModule/"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1ECBC3-4843-9C30-0448-5B853910CCE7}"/>
              </a:ext>
            </a:extLst>
          </p:cNvPr>
          <p:cNvSpPr/>
          <p:nvPr/>
        </p:nvSpPr>
        <p:spPr>
          <a:xfrm>
            <a:off x="0" y="6858000"/>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ACCCBA92-E7F4-54B5-F935-90E2CDAEABCD}"/>
              </a:ext>
            </a:extLst>
          </p:cNvPr>
          <p:cNvSpPr txBox="1"/>
          <p:nvPr/>
        </p:nvSpPr>
        <p:spPr>
          <a:xfrm>
            <a:off x="0" y="6864550"/>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9" name="Rectangle 8">
            <a:extLst>
              <a:ext uri="{FF2B5EF4-FFF2-40B4-BE49-F238E27FC236}">
                <a16:creationId xmlns:a16="http://schemas.microsoft.com/office/drawing/2014/main" id="{78F231FA-0F75-9975-9219-886CE89F0B55}"/>
              </a:ext>
            </a:extLst>
          </p:cNvPr>
          <p:cNvSpPr/>
          <p:nvPr/>
        </p:nvSpPr>
        <p:spPr>
          <a:xfrm>
            <a:off x="0" y="-667939"/>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92BDCBB-DA88-8C3E-8B28-C5A83B63A89F}"/>
              </a:ext>
            </a:extLst>
          </p:cNvPr>
          <p:cNvSpPr txBox="1"/>
          <p:nvPr/>
        </p:nvSpPr>
        <p:spPr>
          <a:xfrm>
            <a:off x="3573502" y="-564803"/>
            <a:ext cx="504503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are the aims for this placement</a:t>
            </a:r>
          </a:p>
        </p:txBody>
      </p:sp>
      <p:grpSp>
        <p:nvGrpSpPr>
          <p:cNvPr id="12" name="Group 11">
            <a:extLst>
              <a:ext uri="{FF2B5EF4-FFF2-40B4-BE49-F238E27FC236}">
                <a16:creationId xmlns:a16="http://schemas.microsoft.com/office/drawing/2014/main" id="{FBCBF559-C2C4-BBF8-A5FA-386DDDBAC617}"/>
              </a:ext>
            </a:extLst>
          </p:cNvPr>
          <p:cNvGrpSpPr/>
          <p:nvPr/>
        </p:nvGrpSpPr>
        <p:grpSpPr>
          <a:xfrm>
            <a:off x="664840" y="3029709"/>
            <a:ext cx="10862319" cy="798582"/>
            <a:chOff x="664838" y="2082381"/>
            <a:chExt cx="10862319" cy="798582"/>
          </a:xfrm>
        </p:grpSpPr>
        <p:sp>
          <p:nvSpPr>
            <p:cNvPr id="4" name="TextBox 3">
              <a:extLst>
                <a:ext uri="{FF2B5EF4-FFF2-40B4-BE49-F238E27FC236}">
                  <a16:creationId xmlns:a16="http://schemas.microsoft.com/office/drawing/2014/main" id="{57169292-6309-4D4F-5EF8-E2F4C35694AF}"/>
                </a:ext>
              </a:extLst>
            </p:cNvPr>
            <p:cNvSpPr txBox="1"/>
            <p:nvPr/>
          </p:nvSpPr>
          <p:spPr>
            <a:xfrm>
              <a:off x="664838" y="2082381"/>
              <a:ext cx="10862319" cy="523220"/>
            </a:xfrm>
            <a:prstGeom prst="rect">
              <a:avLst/>
            </a:prstGeom>
            <a:noFill/>
          </p:spPr>
          <p:txBody>
            <a:bodyPr wrap="square" rtlCol="0">
              <a:spAutoFit/>
            </a:bodyPr>
            <a:lstStyle/>
            <a:p>
              <a:pPr algn="ctr"/>
              <a:r>
                <a:rPr lang="en-GB" sz="2800" b="1" dirty="0">
                  <a:solidFill>
                    <a:schemeClr val="tx2">
                      <a:lumMod val="90000"/>
                      <a:lumOff val="10000"/>
                    </a:schemeClr>
                  </a:solidFill>
                  <a:latin typeface="Times New Roman" panose="02020603050405020304" pitchFamily="18" charset="0"/>
                  <a:cs typeface="Times New Roman" panose="02020603050405020304" pitchFamily="18" charset="0"/>
                </a:rPr>
                <a:t>Welcome</a:t>
              </a:r>
              <a:endParaRPr lang="el-GR" sz="2800" b="1"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8CC9E35-02E5-52FB-0B49-03C3752CF678}"/>
                </a:ext>
              </a:extLst>
            </p:cNvPr>
            <p:cNvSpPr txBox="1"/>
            <p:nvPr/>
          </p:nvSpPr>
          <p:spPr>
            <a:xfrm>
              <a:off x="2990084" y="2480853"/>
              <a:ext cx="6211825" cy="400110"/>
            </a:xfrm>
            <a:prstGeom prst="rect">
              <a:avLst/>
            </a:prstGeom>
            <a:noFill/>
          </p:spPr>
          <p:txBody>
            <a:bodyPr wrap="square" rtlCol="0">
              <a:spAutoFit/>
            </a:bodyPr>
            <a:lstStyle/>
            <a:p>
              <a:pPr algn="ctr"/>
              <a:r>
                <a:rPr lang="en-GB" sz="2000" dirty="0">
                  <a:solidFill>
                    <a:schemeClr val="tx2">
                      <a:lumMod val="90000"/>
                      <a:lumOff val="10000"/>
                    </a:schemeClr>
                  </a:solidFill>
                  <a:latin typeface="Times New Roman" panose="02020603050405020304" pitchFamily="18" charset="0"/>
                  <a:cs typeface="Times New Roman" panose="02020603050405020304" pitchFamily="18" charset="0"/>
                </a:rPr>
                <a:t>to your work experience placement in data</a:t>
              </a:r>
            </a:p>
          </p:txBody>
        </p:sp>
      </p:grpSp>
    </p:spTree>
    <p:extLst>
      <p:ext uri="{BB962C8B-B14F-4D97-AF65-F5344CB8AC3E}">
        <p14:creationId xmlns:p14="http://schemas.microsoft.com/office/powerpoint/2010/main" val="208924916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609CA-48CD-F9F5-3F4A-8242D71EA3C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6FFCA94-ECDE-3175-3EDD-091AFBB7FA87}"/>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CA45801-BE15-303B-5BF8-57E8118E93C8}"/>
              </a:ext>
            </a:extLst>
          </p:cNvPr>
          <p:cNvSpPr txBox="1"/>
          <p:nvPr/>
        </p:nvSpPr>
        <p:spPr>
          <a:xfrm>
            <a:off x="3573519" y="103136"/>
            <a:ext cx="504503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are the aims for this placement</a:t>
            </a:r>
          </a:p>
        </p:txBody>
      </p:sp>
      <p:sp>
        <p:nvSpPr>
          <p:cNvPr id="10" name="Rectangle 9">
            <a:extLst>
              <a:ext uri="{FF2B5EF4-FFF2-40B4-BE49-F238E27FC236}">
                <a16:creationId xmlns:a16="http://schemas.microsoft.com/office/drawing/2014/main" id="{DE4B3D0E-F612-C3FA-A8EC-D95DD79A0A24}"/>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39373E-68BB-5B15-7D72-8E3618642A1E}"/>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5" name="TextBox 4">
            <a:extLst>
              <a:ext uri="{FF2B5EF4-FFF2-40B4-BE49-F238E27FC236}">
                <a16:creationId xmlns:a16="http://schemas.microsoft.com/office/drawing/2014/main" id="{CCF7B9D3-C5CC-38EE-4A5D-93D43537806D}"/>
              </a:ext>
            </a:extLst>
          </p:cNvPr>
          <p:cNvSpPr txBox="1"/>
          <p:nvPr/>
        </p:nvSpPr>
        <p:spPr>
          <a:xfrm>
            <a:off x="1982931" y="771075"/>
            <a:ext cx="8226138" cy="5632311"/>
          </a:xfrm>
          <a:prstGeom prst="rect">
            <a:avLst/>
          </a:prstGeom>
          <a:noFill/>
        </p:spPr>
        <p:txBody>
          <a:bodyPr wrap="square" rtlCol="0">
            <a:spAutoFit/>
          </a:bodyPr>
          <a:lstStyle/>
          <a:p>
            <a:pPr marL="0" marR="0">
              <a:spcBef>
                <a:spcPts val="0"/>
              </a:spcBef>
              <a:spcAft>
                <a:spcPts val="0"/>
              </a:spcAft>
            </a:pPr>
            <a:r>
              <a:rPr lang="en-US" sz="1800" dirty="0">
                <a:solidFill>
                  <a:srgbClr val="000000"/>
                </a:solidFill>
                <a:effectLst/>
                <a:latin typeface="Aptos" panose="020B0004020202020204" pitchFamily="34" charset="0"/>
                <a:ea typeface="Aptos" panose="020B0004020202020204" pitchFamily="34" charset="0"/>
                <a:cs typeface="Aptos" panose="020B0004020202020204" pitchFamily="34" charset="0"/>
              </a:rPr>
              <a:t>This simulated placement mirrors the experience of working as a junior analyst within a data consultancy. </a:t>
            </a:r>
          </a:p>
          <a:p>
            <a:pPr marL="0" marR="0">
              <a:spcBef>
                <a:spcPts val="0"/>
              </a:spcBef>
              <a:spcAft>
                <a:spcPts val="0"/>
              </a:spcAft>
            </a:pPr>
            <a:endParaRPr lang="en-US" dirty="0">
              <a:solidFill>
                <a:srgbClr val="000000"/>
              </a:solidFill>
              <a:latin typeface="Aptos" panose="020B0004020202020204" pitchFamily="34" charset="0"/>
              <a:ea typeface="Aptos" panose="020B0004020202020204" pitchFamily="34" charset="0"/>
              <a:cs typeface="Aptos" panose="020B0004020202020204" pitchFamily="34" charset="0"/>
            </a:endParaRPr>
          </a:p>
          <a:p>
            <a:pPr marL="0" marR="0">
              <a:spcBef>
                <a:spcPts val="0"/>
              </a:spcBef>
              <a:spcAft>
                <a:spcPts val="0"/>
              </a:spcAft>
            </a:pPr>
            <a:r>
              <a:rPr lang="en-US" sz="1800" dirty="0">
                <a:solidFill>
                  <a:srgbClr val="000000"/>
                </a:solidFill>
                <a:effectLst/>
                <a:latin typeface="Aptos" panose="020B0004020202020204" pitchFamily="34" charset="0"/>
                <a:ea typeface="Aptos" panose="020B0004020202020204" pitchFamily="34" charset="0"/>
                <a:cs typeface="Aptos" panose="020B0004020202020204" pitchFamily="34" charset="0"/>
              </a:rPr>
              <a:t>Students will clean and prepare raw data, resolve quality issues, and document analytical decisions. Within a defined project structure, students will investigate trends, relationships, and performance indicators aligned to a client’s strategic objectives.</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Aptos" panose="020B0004020202020204" pitchFamily="34" charset="0"/>
              </a:rPr>
              <a:t> </a:t>
            </a:r>
          </a:p>
          <a:p>
            <a:pPr marL="0" marR="0">
              <a:spcBef>
                <a:spcPts val="0"/>
              </a:spcBef>
              <a:spcAft>
                <a:spcPts val="0"/>
              </a:spcAft>
            </a:pPr>
            <a:r>
              <a:rPr lang="en-US" sz="1800" dirty="0">
                <a:solidFill>
                  <a:srgbClr val="000000"/>
                </a:solidFill>
                <a:effectLst/>
                <a:latin typeface="Aptos" panose="020B0004020202020204" pitchFamily="34" charset="0"/>
                <a:ea typeface="Aptos" panose="020B0004020202020204" pitchFamily="34" charset="0"/>
                <a:cs typeface="Aptos" panose="020B0004020202020204" pitchFamily="34" charset="0"/>
              </a:rPr>
              <a:t>A central component of the placement is the development of an interactive dashboard using </a:t>
            </a:r>
            <a:r>
              <a:rPr lang="en-US" sz="1800" b="1" dirty="0">
                <a:solidFill>
                  <a:srgbClr val="000000"/>
                </a:solidFill>
                <a:effectLst/>
                <a:latin typeface="Aptos" panose="020B0004020202020204" pitchFamily="34" charset="0"/>
                <a:ea typeface="Aptos" panose="020B0004020202020204" pitchFamily="34" charset="0"/>
                <a:cs typeface="Aptos" panose="020B0004020202020204" pitchFamily="34" charset="0"/>
              </a:rPr>
              <a:t>R-Shiny</a:t>
            </a:r>
            <a:r>
              <a:rPr lang="en-US" sz="1800" dirty="0">
                <a:solidFill>
                  <a:srgbClr val="000000"/>
                </a:solidFill>
                <a:effectLst/>
                <a:latin typeface="Aptos" panose="020B0004020202020204" pitchFamily="34" charset="0"/>
                <a:ea typeface="Aptos" panose="020B0004020202020204" pitchFamily="34" charset="0"/>
                <a:cs typeface="Aptos" panose="020B0004020202020204" pitchFamily="34" charset="0"/>
              </a:rPr>
              <a:t>. Rather than submitting a static report, students will design and build a fully functioning web-based analytical tool that allows users to filter data, explore scenarios, compare groups, and generate dynamic insights. This reflects how modern analytics is increasingly being delivered as interactive decision-support systems.</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marL="0" marR="0">
              <a:spcBef>
                <a:spcPts val="0"/>
              </a:spcBef>
              <a:spcAft>
                <a:spcPts val="0"/>
              </a:spcAft>
            </a:pPr>
            <a:r>
              <a:rPr lang="en-US" sz="1800" dirty="0">
                <a:effectLst/>
                <a:latin typeface="Aptos" panose="020B0004020202020204" pitchFamily="34" charset="0"/>
                <a:ea typeface="Aptos" panose="020B0004020202020204" pitchFamily="34" charset="0"/>
                <a:cs typeface="Aptos" panose="020B0004020202020204" pitchFamily="34" charset="0"/>
              </a:rPr>
              <a:t> </a:t>
            </a:r>
          </a:p>
          <a:p>
            <a:pPr marL="0" marR="0">
              <a:spcBef>
                <a:spcPts val="0"/>
              </a:spcBef>
              <a:spcAft>
                <a:spcPts val="0"/>
              </a:spcAft>
            </a:pPr>
            <a:r>
              <a:rPr lang="en-US" sz="1800" dirty="0">
                <a:solidFill>
                  <a:srgbClr val="000000"/>
                </a:solidFill>
                <a:effectLst/>
                <a:latin typeface="Aptos" panose="020B0004020202020204" pitchFamily="34" charset="0"/>
                <a:ea typeface="Aptos" panose="020B0004020202020204" pitchFamily="34" charset="0"/>
                <a:cs typeface="Aptos" panose="020B0004020202020204" pitchFamily="34" charset="0"/>
              </a:rPr>
              <a:t>By the end of the placement, students will have produced a portfolio-quality interactive dashboard accompanied by a concise technical summary, demonstrating analytical capability, professional judgement, and the ability to translate data into decision-ready tools. There will also be a stakeholder handover/presentation day at the end of the placement.</a:t>
            </a:r>
            <a:endParaRPr lang="en-US" sz="1800" dirty="0">
              <a:effectLst/>
              <a:latin typeface="Aptos" panose="020B0004020202020204" pitchFamily="34" charset="0"/>
              <a:ea typeface="Aptos" panose="020B0004020202020204" pitchFamily="34" charset="0"/>
              <a:cs typeface="Aptos" panose="020B0004020202020204" pitchFamily="34" charset="0"/>
            </a:endParaRPr>
          </a:p>
        </p:txBody>
      </p:sp>
      <p:sp>
        <p:nvSpPr>
          <p:cNvPr id="8" name="Rectangle 7">
            <a:extLst>
              <a:ext uri="{FF2B5EF4-FFF2-40B4-BE49-F238E27FC236}">
                <a16:creationId xmlns:a16="http://schemas.microsoft.com/office/drawing/2014/main" id="{C94B9B9C-1AD4-C357-337B-6DA1BBCDD69B}"/>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AD912D-D176-5F1B-7F93-A1C3C2CDB786}"/>
              </a:ext>
            </a:extLst>
          </p:cNvPr>
          <p:cNvSpPr txBox="1"/>
          <p:nvPr/>
        </p:nvSpPr>
        <p:spPr>
          <a:xfrm>
            <a:off x="17549683" y="103136"/>
            <a:ext cx="147668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About me</a:t>
            </a:r>
          </a:p>
        </p:txBody>
      </p:sp>
    </p:spTree>
    <p:extLst>
      <p:ext uri="{BB962C8B-B14F-4D97-AF65-F5344CB8AC3E}">
        <p14:creationId xmlns:p14="http://schemas.microsoft.com/office/powerpoint/2010/main" val="25866513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B2BE-6101-1747-E0A5-969A4D927DC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B0E5C0-D382-91A5-FA37-17161304AA69}"/>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74AAEB-403D-CFB9-CF5A-20B0D8671699}"/>
              </a:ext>
            </a:extLst>
          </p:cNvPr>
          <p:cNvSpPr txBox="1"/>
          <p:nvPr/>
        </p:nvSpPr>
        <p:spPr>
          <a:xfrm>
            <a:off x="5357676" y="103136"/>
            <a:ext cx="147668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About me</a:t>
            </a:r>
          </a:p>
        </p:txBody>
      </p:sp>
      <p:sp>
        <p:nvSpPr>
          <p:cNvPr id="10" name="Rectangle 9">
            <a:extLst>
              <a:ext uri="{FF2B5EF4-FFF2-40B4-BE49-F238E27FC236}">
                <a16:creationId xmlns:a16="http://schemas.microsoft.com/office/drawing/2014/main" id="{4DCE5BC0-7E8D-E5CE-43D5-79D2E4A9E10C}"/>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9BCCA0C-09E4-D193-0867-EFB384FCA6C7}"/>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grpSp>
        <p:nvGrpSpPr>
          <p:cNvPr id="41" name="Group 40">
            <a:extLst>
              <a:ext uri="{FF2B5EF4-FFF2-40B4-BE49-F238E27FC236}">
                <a16:creationId xmlns:a16="http://schemas.microsoft.com/office/drawing/2014/main" id="{5A482959-1FAF-6DB3-0B25-F094FD8E69AA}"/>
              </a:ext>
            </a:extLst>
          </p:cNvPr>
          <p:cNvGrpSpPr/>
          <p:nvPr/>
        </p:nvGrpSpPr>
        <p:grpSpPr>
          <a:xfrm>
            <a:off x="6830121" y="945603"/>
            <a:ext cx="4366128" cy="5320405"/>
            <a:chOff x="6830121" y="945603"/>
            <a:chExt cx="4366128" cy="5320405"/>
          </a:xfrm>
        </p:grpSpPr>
        <p:sp>
          <p:nvSpPr>
            <p:cNvPr id="23" name="TextBox 22">
              <a:extLst>
                <a:ext uri="{FF2B5EF4-FFF2-40B4-BE49-F238E27FC236}">
                  <a16:creationId xmlns:a16="http://schemas.microsoft.com/office/drawing/2014/main" id="{B5A2DF7B-2A62-C456-98DF-61938A08E06D}"/>
                </a:ext>
              </a:extLst>
            </p:cNvPr>
            <p:cNvSpPr txBox="1"/>
            <p:nvPr/>
          </p:nvSpPr>
          <p:spPr>
            <a:xfrm>
              <a:off x="6830121" y="3251152"/>
              <a:ext cx="3428866" cy="584775"/>
            </a:xfrm>
            <a:prstGeom prst="rect">
              <a:avLst/>
            </a:prstGeom>
            <a:noFill/>
          </p:spPr>
          <p:txBody>
            <a:bodyPr wrap="square">
              <a:spAutoFit/>
            </a:bodyPr>
            <a:lstStyle/>
            <a:p>
              <a:pPr algn="r"/>
              <a:r>
                <a:rPr lang="en-GB" sz="1600" dirty="0">
                  <a:solidFill>
                    <a:srgbClr val="000000"/>
                  </a:solidFill>
                  <a:latin typeface="Times New Roman" panose="02020603050405020304" pitchFamily="18" charset="0"/>
                  <a:cs typeface="Times New Roman" panose="02020603050405020304" pitchFamily="18" charset="0"/>
                </a:rPr>
                <a:t>MSc in Modelling for Global Health</a:t>
              </a:r>
            </a:p>
          </p:txBody>
        </p:sp>
        <p:sp>
          <p:nvSpPr>
            <p:cNvPr id="24" name="TextBox 23">
              <a:extLst>
                <a:ext uri="{FF2B5EF4-FFF2-40B4-BE49-F238E27FC236}">
                  <a16:creationId xmlns:a16="http://schemas.microsoft.com/office/drawing/2014/main" id="{56A5E8F4-1B36-8990-7977-AF4ADAF75D23}"/>
                </a:ext>
              </a:extLst>
            </p:cNvPr>
            <p:cNvSpPr txBox="1"/>
            <p:nvPr/>
          </p:nvSpPr>
          <p:spPr>
            <a:xfrm>
              <a:off x="6830121" y="3493491"/>
              <a:ext cx="3428866" cy="307777"/>
            </a:xfrm>
            <a:prstGeom prst="rect">
              <a:avLst/>
            </a:prstGeom>
            <a:noFill/>
          </p:spPr>
          <p:txBody>
            <a:bodyPr wrap="square">
              <a:spAutoFit/>
            </a:bodyPr>
            <a:lstStyle/>
            <a:p>
              <a:pPr algn="r"/>
              <a:r>
                <a:rPr lang="en-GB" sz="1400" i="1" dirty="0">
                  <a:solidFill>
                    <a:srgbClr val="000000"/>
                  </a:solidFill>
                  <a:latin typeface="Times New Roman" panose="02020603050405020304" pitchFamily="18" charset="0"/>
                  <a:cs typeface="Times New Roman" panose="02020603050405020304" pitchFamily="18" charset="0"/>
                </a:rPr>
                <a:t>University of Oxford</a:t>
              </a:r>
            </a:p>
          </p:txBody>
        </p:sp>
        <p:sp>
          <p:nvSpPr>
            <p:cNvPr id="31" name="TextBox 30">
              <a:extLst>
                <a:ext uri="{FF2B5EF4-FFF2-40B4-BE49-F238E27FC236}">
                  <a16:creationId xmlns:a16="http://schemas.microsoft.com/office/drawing/2014/main" id="{98C93A05-BEB7-F993-AF85-5CCFA620902F}"/>
                </a:ext>
              </a:extLst>
            </p:cNvPr>
            <p:cNvSpPr txBox="1"/>
            <p:nvPr/>
          </p:nvSpPr>
          <p:spPr>
            <a:xfrm>
              <a:off x="6948453" y="2437089"/>
              <a:ext cx="3428866" cy="307777"/>
            </a:xfrm>
            <a:prstGeom prst="rect">
              <a:avLst/>
            </a:prstGeom>
            <a:noFill/>
          </p:spPr>
          <p:txBody>
            <a:bodyPr wrap="square">
              <a:spAutoFit/>
            </a:bodyPr>
            <a:lstStyle/>
            <a:p>
              <a:pPr algn="r"/>
              <a:r>
                <a:rPr lang="en-GB" sz="1400" dirty="0">
                  <a:solidFill>
                    <a:srgbClr val="000000"/>
                  </a:solidFill>
                  <a:latin typeface="Times New Roman" panose="02020603050405020304" pitchFamily="18" charset="0"/>
                  <a:cs typeface="Times New Roman" panose="02020603050405020304" pitchFamily="18" charset="0"/>
                </a:rPr>
                <a:t>Hotel Receptionist and FOH supervisor</a:t>
              </a:r>
            </a:p>
          </p:txBody>
        </p:sp>
        <p:sp>
          <p:nvSpPr>
            <p:cNvPr id="12" name="Rectangle 11">
              <a:extLst>
                <a:ext uri="{FF2B5EF4-FFF2-40B4-BE49-F238E27FC236}">
                  <a16:creationId xmlns:a16="http://schemas.microsoft.com/office/drawing/2014/main" id="{0DBAFAF6-7549-DC76-DDB1-77189DA3604E}"/>
                </a:ext>
              </a:extLst>
            </p:cNvPr>
            <p:cNvSpPr/>
            <p:nvPr/>
          </p:nvSpPr>
          <p:spPr>
            <a:xfrm>
              <a:off x="10704760" y="945603"/>
              <a:ext cx="45719" cy="5173783"/>
            </a:xfrm>
            <a:prstGeom prst="rect">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276732A-1DEB-2D8C-98FE-FEEBC65AD21C}"/>
                </a:ext>
              </a:extLst>
            </p:cNvPr>
            <p:cNvSpPr/>
            <p:nvPr/>
          </p:nvSpPr>
          <p:spPr>
            <a:xfrm>
              <a:off x="10258990" y="1145658"/>
              <a:ext cx="937259" cy="945931"/>
            </a:xfrm>
            <a:prstGeom prst="ellipse">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2023</a:t>
              </a:r>
            </a:p>
          </p:txBody>
        </p:sp>
        <p:sp>
          <p:nvSpPr>
            <p:cNvPr id="16" name="Oval 15">
              <a:extLst>
                <a:ext uri="{FF2B5EF4-FFF2-40B4-BE49-F238E27FC236}">
                  <a16:creationId xmlns:a16="http://schemas.microsoft.com/office/drawing/2014/main" id="{1C7E855E-6719-8125-4682-23BCF0F73DE6}"/>
                </a:ext>
              </a:extLst>
            </p:cNvPr>
            <p:cNvSpPr/>
            <p:nvPr/>
          </p:nvSpPr>
          <p:spPr>
            <a:xfrm>
              <a:off x="10258990" y="3059528"/>
              <a:ext cx="937259" cy="945931"/>
            </a:xfrm>
            <a:prstGeom prst="ellipse">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2025</a:t>
              </a:r>
            </a:p>
          </p:txBody>
        </p:sp>
        <p:sp>
          <p:nvSpPr>
            <p:cNvPr id="17" name="Oval 16">
              <a:extLst>
                <a:ext uri="{FF2B5EF4-FFF2-40B4-BE49-F238E27FC236}">
                  <a16:creationId xmlns:a16="http://schemas.microsoft.com/office/drawing/2014/main" id="{AFBFA7E1-69A2-121C-1F9C-7DE77CF92DA9}"/>
                </a:ext>
              </a:extLst>
            </p:cNvPr>
            <p:cNvSpPr/>
            <p:nvPr/>
          </p:nvSpPr>
          <p:spPr>
            <a:xfrm>
              <a:off x="10258990" y="4914546"/>
              <a:ext cx="937259" cy="945931"/>
            </a:xfrm>
            <a:prstGeom prst="ellipse">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2026</a:t>
              </a:r>
            </a:p>
          </p:txBody>
        </p:sp>
        <p:grpSp>
          <p:nvGrpSpPr>
            <p:cNvPr id="21" name="Group 20">
              <a:extLst>
                <a:ext uri="{FF2B5EF4-FFF2-40B4-BE49-F238E27FC236}">
                  <a16:creationId xmlns:a16="http://schemas.microsoft.com/office/drawing/2014/main" id="{ADD7ECCA-AEA9-C9C2-0F88-AAC76F1516C9}"/>
                </a:ext>
              </a:extLst>
            </p:cNvPr>
            <p:cNvGrpSpPr/>
            <p:nvPr/>
          </p:nvGrpSpPr>
          <p:grpSpPr>
            <a:xfrm>
              <a:off x="7132162" y="1349135"/>
              <a:ext cx="3126827" cy="550116"/>
              <a:chOff x="7905358" y="1432624"/>
              <a:chExt cx="3126827" cy="550116"/>
            </a:xfrm>
          </p:grpSpPr>
          <p:sp>
            <p:nvSpPr>
              <p:cNvPr id="19" name="TextBox 18">
                <a:extLst>
                  <a:ext uri="{FF2B5EF4-FFF2-40B4-BE49-F238E27FC236}">
                    <a16:creationId xmlns:a16="http://schemas.microsoft.com/office/drawing/2014/main" id="{8ED85D7F-E8F3-A76D-3E66-B97CF8E0B02E}"/>
                  </a:ext>
                </a:extLst>
              </p:cNvPr>
              <p:cNvSpPr txBox="1"/>
              <p:nvPr/>
            </p:nvSpPr>
            <p:spPr>
              <a:xfrm>
                <a:off x="7905358" y="1432624"/>
                <a:ext cx="3126827" cy="338554"/>
              </a:xfrm>
              <a:prstGeom prst="rect">
                <a:avLst/>
              </a:prstGeom>
              <a:noFill/>
            </p:spPr>
            <p:txBody>
              <a:bodyPr wrap="square">
                <a:spAutoFit/>
              </a:bodyPr>
              <a:lstStyle/>
              <a:p>
                <a:pPr algn="r"/>
                <a:r>
                  <a:rPr lang="en-GB" sz="1600" dirty="0">
                    <a:solidFill>
                      <a:srgbClr val="000000"/>
                    </a:solidFill>
                    <a:latin typeface="Times New Roman" panose="02020603050405020304" pitchFamily="18" charset="0"/>
                    <a:cs typeface="Times New Roman" panose="02020603050405020304" pitchFamily="18" charset="0"/>
                  </a:rPr>
                  <a:t>BSc in Clinical Pharmacology</a:t>
                </a:r>
              </a:p>
            </p:txBody>
          </p:sp>
          <p:sp>
            <p:nvSpPr>
              <p:cNvPr id="20" name="TextBox 19">
                <a:extLst>
                  <a:ext uri="{FF2B5EF4-FFF2-40B4-BE49-F238E27FC236}">
                    <a16:creationId xmlns:a16="http://schemas.microsoft.com/office/drawing/2014/main" id="{C3B20ABB-2A98-3AB6-8870-E82AFEA0B825}"/>
                  </a:ext>
                </a:extLst>
              </p:cNvPr>
              <p:cNvSpPr txBox="1"/>
              <p:nvPr/>
            </p:nvSpPr>
            <p:spPr>
              <a:xfrm>
                <a:off x="7905358" y="1674963"/>
                <a:ext cx="3126827" cy="307777"/>
              </a:xfrm>
              <a:prstGeom prst="rect">
                <a:avLst/>
              </a:prstGeom>
              <a:noFill/>
            </p:spPr>
            <p:txBody>
              <a:bodyPr wrap="square">
                <a:spAutoFit/>
              </a:bodyPr>
              <a:lstStyle/>
              <a:p>
                <a:pPr algn="r"/>
                <a:r>
                  <a:rPr lang="en-GB" sz="1400" i="1" dirty="0">
                    <a:solidFill>
                      <a:srgbClr val="000000"/>
                    </a:solidFill>
                    <a:latin typeface="Times New Roman" panose="02020603050405020304" pitchFamily="18" charset="0"/>
                    <a:cs typeface="Times New Roman" panose="02020603050405020304" pitchFamily="18" charset="0"/>
                  </a:rPr>
                  <a:t>St. George’s University of London</a:t>
                </a:r>
              </a:p>
            </p:txBody>
          </p:sp>
        </p:grpSp>
        <p:grpSp>
          <p:nvGrpSpPr>
            <p:cNvPr id="25" name="Group 24">
              <a:extLst>
                <a:ext uri="{FF2B5EF4-FFF2-40B4-BE49-F238E27FC236}">
                  <a16:creationId xmlns:a16="http://schemas.microsoft.com/office/drawing/2014/main" id="{70EAC9AD-E12B-5493-D0DC-9450E68EBF1C}"/>
                </a:ext>
              </a:extLst>
            </p:cNvPr>
            <p:cNvGrpSpPr/>
            <p:nvPr/>
          </p:nvGrpSpPr>
          <p:grpSpPr>
            <a:xfrm>
              <a:off x="7132160" y="5106884"/>
              <a:ext cx="3126827" cy="550116"/>
              <a:chOff x="7905358" y="1432624"/>
              <a:chExt cx="3126827" cy="550116"/>
            </a:xfrm>
          </p:grpSpPr>
          <p:sp>
            <p:nvSpPr>
              <p:cNvPr id="26" name="TextBox 25">
                <a:extLst>
                  <a:ext uri="{FF2B5EF4-FFF2-40B4-BE49-F238E27FC236}">
                    <a16:creationId xmlns:a16="http://schemas.microsoft.com/office/drawing/2014/main" id="{24C037E8-83DF-517B-FFEF-62140B0CC2DE}"/>
                  </a:ext>
                </a:extLst>
              </p:cNvPr>
              <p:cNvSpPr txBox="1"/>
              <p:nvPr/>
            </p:nvSpPr>
            <p:spPr>
              <a:xfrm>
                <a:off x="7905358" y="1432624"/>
                <a:ext cx="3126827" cy="338554"/>
              </a:xfrm>
              <a:prstGeom prst="rect">
                <a:avLst/>
              </a:prstGeom>
              <a:noFill/>
            </p:spPr>
            <p:txBody>
              <a:bodyPr wrap="square">
                <a:spAutoFit/>
              </a:bodyPr>
              <a:lstStyle/>
              <a:p>
                <a:pPr algn="r"/>
                <a:r>
                  <a:rPr lang="en-GB" sz="1600" dirty="0">
                    <a:solidFill>
                      <a:srgbClr val="000000"/>
                    </a:solidFill>
                    <a:latin typeface="Times New Roman" panose="02020603050405020304" pitchFamily="18" charset="0"/>
                    <a:cs typeface="Times New Roman" panose="02020603050405020304" pitchFamily="18" charset="0"/>
                  </a:rPr>
                  <a:t>PhD in Clinical Medicine</a:t>
                </a:r>
              </a:p>
            </p:txBody>
          </p:sp>
          <p:sp>
            <p:nvSpPr>
              <p:cNvPr id="27" name="TextBox 26">
                <a:extLst>
                  <a:ext uri="{FF2B5EF4-FFF2-40B4-BE49-F238E27FC236}">
                    <a16:creationId xmlns:a16="http://schemas.microsoft.com/office/drawing/2014/main" id="{21597CBD-643A-6A73-8CCB-F745118FA5B9}"/>
                  </a:ext>
                </a:extLst>
              </p:cNvPr>
              <p:cNvSpPr txBox="1"/>
              <p:nvPr/>
            </p:nvSpPr>
            <p:spPr>
              <a:xfrm>
                <a:off x="7905358" y="1674963"/>
                <a:ext cx="3126827" cy="307777"/>
              </a:xfrm>
              <a:prstGeom prst="rect">
                <a:avLst/>
              </a:prstGeom>
              <a:noFill/>
            </p:spPr>
            <p:txBody>
              <a:bodyPr wrap="square">
                <a:spAutoFit/>
              </a:bodyPr>
              <a:lstStyle/>
              <a:p>
                <a:pPr algn="r"/>
                <a:r>
                  <a:rPr lang="en-GB" sz="1400" i="1" dirty="0">
                    <a:solidFill>
                      <a:srgbClr val="000000"/>
                    </a:solidFill>
                    <a:latin typeface="Times New Roman" panose="02020603050405020304" pitchFamily="18" charset="0"/>
                    <a:cs typeface="Times New Roman" panose="02020603050405020304" pitchFamily="18" charset="0"/>
                  </a:rPr>
                  <a:t>University of Oxford</a:t>
                </a:r>
              </a:p>
            </p:txBody>
          </p:sp>
        </p:grpSp>
        <p:sp>
          <p:nvSpPr>
            <p:cNvPr id="29" name="Rectangle 28">
              <a:extLst>
                <a:ext uri="{FF2B5EF4-FFF2-40B4-BE49-F238E27FC236}">
                  <a16:creationId xmlns:a16="http://schemas.microsoft.com/office/drawing/2014/main" id="{5A885BAA-64CC-EE4A-526A-702A3F5CB0DC}"/>
                </a:ext>
              </a:extLst>
            </p:cNvPr>
            <p:cNvSpPr/>
            <p:nvPr/>
          </p:nvSpPr>
          <p:spPr>
            <a:xfrm>
              <a:off x="10486466" y="2334405"/>
              <a:ext cx="482306" cy="482306"/>
            </a:xfrm>
            <a:prstGeom prst="rect">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2024</a:t>
              </a:r>
            </a:p>
          </p:txBody>
        </p:sp>
        <p:sp>
          <p:nvSpPr>
            <p:cNvPr id="32" name="Triangle 31">
              <a:extLst>
                <a:ext uri="{FF2B5EF4-FFF2-40B4-BE49-F238E27FC236}">
                  <a16:creationId xmlns:a16="http://schemas.microsoft.com/office/drawing/2014/main" id="{C7CEB7F1-2782-359F-F89A-387BCABFCCB1}"/>
                </a:ext>
              </a:extLst>
            </p:cNvPr>
            <p:cNvSpPr/>
            <p:nvPr/>
          </p:nvSpPr>
          <p:spPr>
            <a:xfrm rot="10800000">
              <a:off x="10554198" y="6119386"/>
              <a:ext cx="346842" cy="146622"/>
            </a:xfrm>
            <a:prstGeom prst="triangle">
              <a:avLst/>
            </a:prstGeom>
            <a:solidFill>
              <a:srgbClr val="16406C"/>
            </a:solidFill>
            <a:ln>
              <a:solidFill>
                <a:srgbClr val="164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BA2721F-2086-1C27-429C-D71E9C701163}"/>
                </a:ext>
              </a:extLst>
            </p:cNvPr>
            <p:cNvSpPr txBox="1"/>
            <p:nvPr/>
          </p:nvSpPr>
          <p:spPr>
            <a:xfrm>
              <a:off x="7486078" y="4628876"/>
              <a:ext cx="3126827" cy="338554"/>
            </a:xfrm>
            <a:prstGeom prst="rect">
              <a:avLst/>
            </a:prstGeom>
            <a:noFill/>
          </p:spPr>
          <p:txBody>
            <a:bodyPr wrap="square">
              <a:spAutoFit/>
            </a:bodyPr>
            <a:lstStyle/>
            <a:p>
              <a:pPr algn="r"/>
              <a:r>
                <a:rPr lang="en-GB" sz="1600" dirty="0">
                  <a:solidFill>
                    <a:srgbClr val="000000"/>
                  </a:solidFill>
                  <a:latin typeface="Times New Roman" panose="02020603050405020304" pitchFamily="18" charset="0"/>
                  <a:cs typeface="Times New Roman" panose="02020603050405020304" pitchFamily="18" charset="0"/>
                </a:rPr>
                <a:t>Pharmacometrics Consultant</a:t>
              </a:r>
            </a:p>
          </p:txBody>
        </p:sp>
        <p:sp>
          <p:nvSpPr>
            <p:cNvPr id="35" name="TextBox 34">
              <a:extLst>
                <a:ext uri="{FF2B5EF4-FFF2-40B4-BE49-F238E27FC236}">
                  <a16:creationId xmlns:a16="http://schemas.microsoft.com/office/drawing/2014/main" id="{21432A8A-FE2B-AA77-B536-230D9785443D}"/>
                </a:ext>
              </a:extLst>
            </p:cNvPr>
            <p:cNvSpPr txBox="1"/>
            <p:nvPr/>
          </p:nvSpPr>
          <p:spPr>
            <a:xfrm>
              <a:off x="7223883" y="4883269"/>
              <a:ext cx="3126827" cy="307777"/>
            </a:xfrm>
            <a:prstGeom prst="rect">
              <a:avLst/>
            </a:prstGeom>
            <a:noFill/>
          </p:spPr>
          <p:txBody>
            <a:bodyPr wrap="square">
              <a:spAutoFit/>
            </a:bodyPr>
            <a:lstStyle/>
            <a:p>
              <a:pPr algn="r"/>
              <a:r>
                <a:rPr lang="en-GB" sz="1400" i="1" dirty="0">
                  <a:solidFill>
                    <a:srgbClr val="000000"/>
                  </a:solidFill>
                  <a:latin typeface="Times New Roman" panose="02020603050405020304" pitchFamily="18" charset="0"/>
                  <a:cs typeface="Times New Roman" panose="02020603050405020304" pitchFamily="18" charset="0"/>
                </a:rPr>
                <a:t>MORU</a:t>
              </a:r>
            </a:p>
          </p:txBody>
        </p:sp>
        <p:sp>
          <p:nvSpPr>
            <p:cNvPr id="37" name="TextBox 36">
              <a:extLst>
                <a:ext uri="{FF2B5EF4-FFF2-40B4-BE49-F238E27FC236}">
                  <a16:creationId xmlns:a16="http://schemas.microsoft.com/office/drawing/2014/main" id="{47ADECD8-4D6B-85BB-FCFE-29216ED6D8BA}"/>
                </a:ext>
              </a:extLst>
            </p:cNvPr>
            <p:cNvSpPr txBox="1"/>
            <p:nvPr/>
          </p:nvSpPr>
          <p:spPr>
            <a:xfrm>
              <a:off x="7230573" y="5570986"/>
              <a:ext cx="3126827" cy="338554"/>
            </a:xfrm>
            <a:prstGeom prst="rect">
              <a:avLst/>
            </a:prstGeom>
            <a:noFill/>
          </p:spPr>
          <p:txBody>
            <a:bodyPr wrap="square">
              <a:spAutoFit/>
            </a:bodyPr>
            <a:lstStyle/>
            <a:p>
              <a:pPr algn="r"/>
              <a:r>
                <a:rPr lang="en-GB" sz="1600" dirty="0">
                  <a:solidFill>
                    <a:srgbClr val="000000"/>
                  </a:solidFill>
                  <a:latin typeface="Times New Roman" panose="02020603050405020304" pitchFamily="18" charset="0"/>
                  <a:cs typeface="Times New Roman" panose="02020603050405020304" pitchFamily="18" charset="0"/>
                </a:rPr>
                <a:t>This project</a:t>
              </a:r>
            </a:p>
          </p:txBody>
        </p:sp>
        <p:sp>
          <p:nvSpPr>
            <p:cNvPr id="38" name="TextBox 37">
              <a:extLst>
                <a:ext uri="{FF2B5EF4-FFF2-40B4-BE49-F238E27FC236}">
                  <a16:creationId xmlns:a16="http://schemas.microsoft.com/office/drawing/2014/main" id="{8EA7C8BC-4D5B-C759-8E69-DADCC8069F31}"/>
                </a:ext>
              </a:extLst>
            </p:cNvPr>
            <p:cNvSpPr txBox="1"/>
            <p:nvPr/>
          </p:nvSpPr>
          <p:spPr>
            <a:xfrm>
              <a:off x="7427371" y="5805837"/>
              <a:ext cx="3126827" cy="307777"/>
            </a:xfrm>
            <a:prstGeom prst="rect">
              <a:avLst/>
            </a:prstGeom>
            <a:noFill/>
          </p:spPr>
          <p:txBody>
            <a:bodyPr wrap="square">
              <a:spAutoFit/>
            </a:bodyPr>
            <a:lstStyle/>
            <a:p>
              <a:pPr algn="r"/>
              <a:r>
                <a:rPr lang="en-GB" sz="1400" i="1" dirty="0">
                  <a:solidFill>
                    <a:srgbClr val="000000"/>
                  </a:solidFill>
                  <a:latin typeface="Times New Roman" panose="02020603050405020304" pitchFamily="18" charset="0"/>
                  <a:cs typeface="Times New Roman" panose="02020603050405020304" pitchFamily="18" charset="0"/>
                </a:rPr>
                <a:t>Right here</a:t>
              </a:r>
            </a:p>
          </p:txBody>
        </p:sp>
      </p:grpSp>
      <p:sp>
        <p:nvSpPr>
          <p:cNvPr id="42" name="Rectangle 41">
            <a:extLst>
              <a:ext uri="{FF2B5EF4-FFF2-40B4-BE49-F238E27FC236}">
                <a16:creationId xmlns:a16="http://schemas.microsoft.com/office/drawing/2014/main" id="{52909044-7870-0588-4784-F2C09B13747E}"/>
              </a:ext>
            </a:extLst>
          </p:cNvPr>
          <p:cNvSpPr/>
          <p:nvPr/>
        </p:nvSpPr>
        <p:spPr>
          <a:xfrm>
            <a:off x="12039600" y="0"/>
            <a:ext cx="123444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A05A96A6-A344-4007-203B-AAF92D064CDF}"/>
              </a:ext>
            </a:extLst>
          </p:cNvPr>
          <p:cNvSpPr txBox="1"/>
          <p:nvPr/>
        </p:nvSpPr>
        <p:spPr>
          <a:xfrm>
            <a:off x="15655408" y="103136"/>
            <a:ext cx="5265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does a Data Analyst actually do?</a:t>
            </a:r>
          </a:p>
        </p:txBody>
      </p:sp>
      <p:grpSp>
        <p:nvGrpSpPr>
          <p:cNvPr id="48" name="Group 47">
            <a:extLst>
              <a:ext uri="{FF2B5EF4-FFF2-40B4-BE49-F238E27FC236}">
                <a16:creationId xmlns:a16="http://schemas.microsoft.com/office/drawing/2014/main" id="{90DDC519-EA92-FFF2-2A76-4F499F6995D1}"/>
              </a:ext>
            </a:extLst>
          </p:cNvPr>
          <p:cNvGrpSpPr/>
          <p:nvPr/>
        </p:nvGrpSpPr>
        <p:grpSpPr>
          <a:xfrm>
            <a:off x="649545" y="1312346"/>
            <a:ext cx="5446455" cy="4670065"/>
            <a:chOff x="653167" y="1327548"/>
            <a:chExt cx="5446455" cy="4670065"/>
          </a:xfrm>
        </p:grpSpPr>
        <p:sp>
          <p:nvSpPr>
            <p:cNvPr id="5" name="TextBox 4">
              <a:extLst>
                <a:ext uri="{FF2B5EF4-FFF2-40B4-BE49-F238E27FC236}">
                  <a16:creationId xmlns:a16="http://schemas.microsoft.com/office/drawing/2014/main" id="{EA2055B5-0E4A-6905-7589-CF1EC2B61DB4}"/>
                </a:ext>
              </a:extLst>
            </p:cNvPr>
            <p:cNvSpPr txBox="1"/>
            <p:nvPr/>
          </p:nvSpPr>
          <p:spPr>
            <a:xfrm>
              <a:off x="653167" y="1327548"/>
              <a:ext cx="5446455" cy="3847207"/>
            </a:xfrm>
            <a:prstGeom prst="rect">
              <a:avLst/>
            </a:prstGeom>
            <a:noFill/>
          </p:spPr>
          <p:txBody>
            <a:bodyPr wrap="square" rtlCol="0">
              <a:spAutoFit/>
            </a:bodyPr>
            <a:lstStyle/>
            <a:p>
              <a:pPr algn="ctr"/>
              <a:r>
                <a:rPr lang="en-GB" b="1" dirty="0">
                  <a:solidFill>
                    <a:srgbClr val="16406C"/>
                  </a:solidFill>
                  <a:latin typeface="Times New Roman" panose="02020603050405020304" pitchFamily="18" charset="0"/>
                  <a:cs typeface="Times New Roman" panose="02020603050405020304" pitchFamily="18" charset="0"/>
                </a:rPr>
                <a:t>What do I do?</a:t>
              </a:r>
            </a:p>
            <a:p>
              <a:pPr algn="ctr"/>
              <a:endParaRPr lang="en-GB" sz="1000"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a contract pharmacometrician working on gaining market access for a novel antimalarial with a Chinese pharmaceutical group</a:t>
              </a:r>
            </a:p>
            <a:p>
              <a:pPr algn="ctr"/>
              <a:endParaRPr lang="en-GB"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DPhil student in Clinical Medicine at the University of Oxford based in Bangkok.</a:t>
              </a:r>
            </a:p>
            <a:p>
              <a:pPr algn="ctr"/>
              <a:endParaRPr lang="en-GB"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Research focused on population PKPD modelling and dose optimisation of </a:t>
              </a:r>
              <a:r>
                <a:rPr lang="en-GB" i="1" dirty="0">
                  <a:solidFill>
                    <a:srgbClr val="000000"/>
                  </a:solidFill>
                  <a:latin typeface="Times New Roman" panose="02020603050405020304" pitchFamily="18" charset="0"/>
                  <a:cs typeface="Times New Roman" panose="02020603050405020304" pitchFamily="18" charset="0"/>
                </a:rPr>
                <a:t>(another) </a:t>
              </a:r>
              <a:r>
                <a:rPr lang="en-GB" dirty="0">
                  <a:solidFill>
                    <a:srgbClr val="000000"/>
                  </a:solidFill>
                  <a:latin typeface="Times New Roman" panose="02020603050405020304" pitchFamily="18" charset="0"/>
                  <a:cs typeface="Times New Roman" panose="02020603050405020304" pitchFamily="18" charset="0"/>
                </a:rPr>
                <a:t>novel triple combination therapy against malaria.</a:t>
              </a:r>
            </a:p>
            <a:p>
              <a:pPr algn="ctr"/>
              <a:endParaRPr lang="en-GB"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AIML methods against sepsis in resource limited settings</a:t>
              </a:r>
            </a:p>
          </p:txBody>
        </p:sp>
        <p:grpSp>
          <p:nvGrpSpPr>
            <p:cNvPr id="47" name="Group 46">
              <a:extLst>
                <a:ext uri="{FF2B5EF4-FFF2-40B4-BE49-F238E27FC236}">
                  <a16:creationId xmlns:a16="http://schemas.microsoft.com/office/drawing/2014/main" id="{AC8C2A37-B018-6558-D5A0-3B7A1E7E1B2B}"/>
                </a:ext>
              </a:extLst>
            </p:cNvPr>
            <p:cNvGrpSpPr/>
            <p:nvPr/>
          </p:nvGrpSpPr>
          <p:grpSpPr>
            <a:xfrm>
              <a:off x="2546215" y="5460279"/>
              <a:ext cx="1660358" cy="537334"/>
              <a:chOff x="2437467" y="5445361"/>
              <a:chExt cx="1660358" cy="537334"/>
            </a:xfrm>
          </p:grpSpPr>
          <p:pic>
            <p:nvPicPr>
              <p:cNvPr id="45" name="Picture 4" descr="Uk flag png Vectors - Download Free High-Quality Vectors ...">
                <a:extLst>
                  <a:ext uri="{FF2B5EF4-FFF2-40B4-BE49-F238E27FC236}">
                    <a16:creationId xmlns:a16="http://schemas.microsoft.com/office/drawing/2014/main" id="{C56CED26-2B1A-C185-A4F3-DD20C2D721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386" r="10386"/>
              <a:stretch/>
            </p:blipFill>
            <p:spPr bwMode="auto">
              <a:xfrm>
                <a:off x="2437467" y="5445361"/>
                <a:ext cx="807769" cy="53733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DAFD503B-8A9A-2087-069F-0330A655F2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475" b="3473"/>
              <a:stretch/>
            </p:blipFill>
            <p:spPr bwMode="auto">
              <a:xfrm>
                <a:off x="3290056" y="5445361"/>
                <a:ext cx="807769" cy="53733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 name="Rectangle 1">
            <a:extLst>
              <a:ext uri="{FF2B5EF4-FFF2-40B4-BE49-F238E27FC236}">
                <a16:creationId xmlns:a16="http://schemas.microsoft.com/office/drawing/2014/main" id="{3C6D4B3D-F515-249F-C96A-878D95E4542B}"/>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24AB628-AF5E-2FEC-5484-917E1A368579}"/>
              </a:ext>
            </a:extLst>
          </p:cNvPr>
          <p:cNvSpPr txBox="1"/>
          <p:nvPr/>
        </p:nvSpPr>
        <p:spPr>
          <a:xfrm>
            <a:off x="-8618481" y="103136"/>
            <a:ext cx="504503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are the aims for this placement</a:t>
            </a:r>
          </a:p>
        </p:txBody>
      </p:sp>
    </p:spTree>
    <p:extLst>
      <p:ext uri="{BB962C8B-B14F-4D97-AF65-F5344CB8AC3E}">
        <p14:creationId xmlns:p14="http://schemas.microsoft.com/office/powerpoint/2010/main" val="24787930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609CA-48CD-F9F5-3F4A-8242D71EA3C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6FFCA94-ECDE-3175-3EDD-091AFBB7FA87}"/>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CA45801-BE15-303B-5BF8-57E8118E93C8}"/>
              </a:ext>
            </a:extLst>
          </p:cNvPr>
          <p:cNvSpPr txBox="1"/>
          <p:nvPr/>
        </p:nvSpPr>
        <p:spPr>
          <a:xfrm>
            <a:off x="3463417" y="103136"/>
            <a:ext cx="5265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does a Data Analyst actually do?</a:t>
            </a:r>
          </a:p>
        </p:txBody>
      </p:sp>
      <p:sp>
        <p:nvSpPr>
          <p:cNvPr id="10" name="Rectangle 9">
            <a:extLst>
              <a:ext uri="{FF2B5EF4-FFF2-40B4-BE49-F238E27FC236}">
                <a16:creationId xmlns:a16="http://schemas.microsoft.com/office/drawing/2014/main" id="{DE4B3D0E-F612-C3FA-A8EC-D95DD79A0A24}"/>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39373E-68BB-5B15-7D72-8E3618642A1E}"/>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5" name="TextBox 4">
            <a:extLst>
              <a:ext uri="{FF2B5EF4-FFF2-40B4-BE49-F238E27FC236}">
                <a16:creationId xmlns:a16="http://schemas.microsoft.com/office/drawing/2014/main" id="{CCF7B9D3-C5CC-38EE-4A5D-93D43537806D}"/>
              </a:ext>
            </a:extLst>
          </p:cNvPr>
          <p:cNvSpPr txBox="1"/>
          <p:nvPr/>
        </p:nvSpPr>
        <p:spPr>
          <a:xfrm>
            <a:off x="1982931" y="1559091"/>
            <a:ext cx="8226138" cy="4093428"/>
          </a:xfrm>
          <a:prstGeom prst="rect">
            <a:avLst/>
          </a:prstGeom>
          <a:noFill/>
        </p:spPr>
        <p:txBody>
          <a:bodyPr wrap="square" rtlCol="0">
            <a:spAutoFit/>
          </a:bodyPr>
          <a:lstStyle/>
          <a:p>
            <a:pPr algn="ctr"/>
            <a:r>
              <a:rPr lang="en-GB" sz="2000" dirty="0">
                <a:solidFill>
                  <a:srgbClr val="000000"/>
                </a:solidFill>
                <a:latin typeface="Times New Roman" panose="02020603050405020304" pitchFamily="18" charset="0"/>
                <a:cs typeface="Times New Roman" panose="02020603050405020304" pitchFamily="18" charset="0"/>
              </a:rPr>
              <a:t>Data analytics is the art of solving problems using data.</a:t>
            </a:r>
          </a:p>
          <a:p>
            <a:pPr algn="ctr"/>
            <a:endParaRPr lang="en-GB" sz="2000" dirty="0">
              <a:solidFill>
                <a:srgbClr val="000000"/>
              </a:solidFill>
              <a:latin typeface="Times New Roman" panose="02020603050405020304" pitchFamily="18" charset="0"/>
              <a:cs typeface="Times New Roman" panose="02020603050405020304" pitchFamily="18" charset="0"/>
            </a:endParaRPr>
          </a:p>
          <a:p>
            <a:pPr algn="ctr"/>
            <a:r>
              <a:rPr lang="en-GB" sz="2000" dirty="0">
                <a:solidFill>
                  <a:srgbClr val="000000"/>
                </a:solidFill>
                <a:latin typeface="Times New Roman" panose="02020603050405020304" pitchFamily="18" charset="0"/>
                <a:cs typeface="Times New Roman" panose="02020603050405020304" pitchFamily="18" charset="0"/>
              </a:rPr>
              <a:t>The goal is to help organisations make decisions using the data they have at their disposal</a:t>
            </a:r>
          </a:p>
          <a:p>
            <a:pPr algn="ctr"/>
            <a:endParaRPr lang="en-GB" sz="2000" dirty="0">
              <a:solidFill>
                <a:srgbClr val="000000"/>
              </a:solidFill>
              <a:latin typeface="Times New Roman" panose="02020603050405020304" pitchFamily="18" charset="0"/>
              <a:cs typeface="Times New Roman" panose="02020603050405020304" pitchFamily="18" charset="0"/>
            </a:endParaRPr>
          </a:p>
          <a:p>
            <a:pPr algn="ctr"/>
            <a:r>
              <a:rPr lang="en-GB" sz="2000" dirty="0">
                <a:solidFill>
                  <a:srgbClr val="000000"/>
                </a:solidFill>
                <a:latin typeface="Times New Roman" panose="02020603050405020304" pitchFamily="18" charset="0"/>
                <a:cs typeface="Times New Roman" panose="02020603050405020304" pitchFamily="18" charset="0"/>
              </a:rPr>
              <a:t>Instead of guesswork and a ‘hunch’, companies rely on data-driven insights</a:t>
            </a:r>
          </a:p>
          <a:p>
            <a:pPr algn="ctr"/>
            <a:endParaRPr lang="en-GB" sz="2000" dirty="0">
              <a:solidFill>
                <a:srgbClr val="000000"/>
              </a:solidFill>
              <a:latin typeface="Times New Roman" panose="02020603050405020304" pitchFamily="18" charset="0"/>
              <a:cs typeface="Times New Roman" panose="02020603050405020304" pitchFamily="18" charset="0"/>
            </a:endParaRPr>
          </a:p>
          <a:p>
            <a:pPr algn="ctr"/>
            <a:r>
              <a:rPr lang="en-US" sz="2000" dirty="0">
                <a:solidFill>
                  <a:srgbClr val="000000"/>
                </a:solidFill>
                <a:latin typeface="Times New Roman" panose="02020603050405020304" pitchFamily="18" charset="0"/>
                <a:cs typeface="Times New Roman" panose="02020603050405020304" pitchFamily="18" charset="0"/>
              </a:rPr>
              <a:t>For example, a retail company might notice a drop in sales. Rather than guessing the cause, a data analyst would investigate the data. Looking at trends over time, customer behaviour, product performance, and external factors to uncover the reason behind the decline.</a:t>
            </a:r>
          </a:p>
          <a:p>
            <a:pPr algn="ctr"/>
            <a:endParaRPr lang="en-GB" sz="2000" dirty="0">
              <a:solidFill>
                <a:srgbClr val="000000"/>
              </a:solidFill>
              <a:latin typeface="Times New Roman" panose="02020603050405020304" pitchFamily="18" charset="0"/>
              <a:cs typeface="Times New Roman" panose="02020603050405020304" pitchFamily="18" charset="0"/>
            </a:endParaRPr>
          </a:p>
          <a:p>
            <a:pPr algn="ctr"/>
            <a:r>
              <a:rPr lang="en-GB" sz="2000" dirty="0">
                <a:solidFill>
                  <a:srgbClr val="000000"/>
                </a:solidFill>
                <a:latin typeface="Times New Roman" panose="02020603050405020304" pitchFamily="18" charset="0"/>
                <a:cs typeface="Times New Roman" panose="02020603050405020304" pitchFamily="18" charset="0"/>
              </a:rPr>
              <a:t>The analyst investigates the data to try and find the answer</a:t>
            </a:r>
          </a:p>
        </p:txBody>
      </p:sp>
      <p:sp>
        <p:nvSpPr>
          <p:cNvPr id="2" name="Rectangle 1">
            <a:extLst>
              <a:ext uri="{FF2B5EF4-FFF2-40B4-BE49-F238E27FC236}">
                <a16:creationId xmlns:a16="http://schemas.microsoft.com/office/drawing/2014/main" id="{9969F40F-0EDB-76EB-E52E-79EAF251AA2D}"/>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B77C5B-326E-D7AE-A959-62F8D7033A9D}"/>
              </a:ext>
            </a:extLst>
          </p:cNvPr>
          <p:cNvSpPr txBox="1"/>
          <p:nvPr/>
        </p:nvSpPr>
        <p:spPr>
          <a:xfrm>
            <a:off x="-6834325" y="103135"/>
            <a:ext cx="147668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About me</a:t>
            </a:r>
          </a:p>
        </p:txBody>
      </p:sp>
      <p:sp>
        <p:nvSpPr>
          <p:cNvPr id="8" name="Rectangle 7">
            <a:extLst>
              <a:ext uri="{FF2B5EF4-FFF2-40B4-BE49-F238E27FC236}">
                <a16:creationId xmlns:a16="http://schemas.microsoft.com/office/drawing/2014/main" id="{C94B9B9C-1AD4-C357-337B-6DA1BBCDD69B}"/>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AD912D-D176-5F1B-7F93-A1C3C2CDB786}"/>
              </a:ext>
            </a:extLst>
          </p:cNvPr>
          <p:cNvSpPr txBox="1"/>
          <p:nvPr/>
        </p:nvSpPr>
        <p:spPr>
          <a:xfrm>
            <a:off x="16408344" y="103136"/>
            <a:ext cx="3759363"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is the basic workflow</a:t>
            </a:r>
          </a:p>
        </p:txBody>
      </p:sp>
    </p:spTree>
    <p:extLst>
      <p:ext uri="{BB962C8B-B14F-4D97-AF65-F5344CB8AC3E}">
        <p14:creationId xmlns:p14="http://schemas.microsoft.com/office/powerpoint/2010/main" val="213510587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1447-4710-026D-DE8B-1D0EAE61229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EBDAFC1-19EA-850B-43C5-695827243A44}"/>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47483D-DB51-4135-498E-4873CA99A8F9}"/>
              </a:ext>
            </a:extLst>
          </p:cNvPr>
          <p:cNvSpPr txBox="1"/>
          <p:nvPr/>
        </p:nvSpPr>
        <p:spPr>
          <a:xfrm>
            <a:off x="4139411" y="103136"/>
            <a:ext cx="3913251"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is the basic workflow?</a:t>
            </a:r>
          </a:p>
        </p:txBody>
      </p:sp>
      <p:sp>
        <p:nvSpPr>
          <p:cNvPr id="10" name="Rectangle 9">
            <a:extLst>
              <a:ext uri="{FF2B5EF4-FFF2-40B4-BE49-F238E27FC236}">
                <a16:creationId xmlns:a16="http://schemas.microsoft.com/office/drawing/2014/main" id="{3F0EBF0B-0CAA-70D0-BC1B-AA8E409A9E93}"/>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82F1307-1B59-272F-8FFE-16DBF2375AED}"/>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A89EEE1B-09A3-277F-2697-0DC9E7E0F3CE}"/>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9924050-870C-94A5-9FF0-51F7DE2A5D48}"/>
              </a:ext>
            </a:extLst>
          </p:cNvPr>
          <p:cNvSpPr txBox="1"/>
          <p:nvPr/>
        </p:nvSpPr>
        <p:spPr>
          <a:xfrm>
            <a:off x="-8728594" y="103135"/>
            <a:ext cx="5265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does a Data Analyst actually do?</a:t>
            </a:r>
          </a:p>
        </p:txBody>
      </p:sp>
      <p:sp>
        <p:nvSpPr>
          <p:cNvPr id="8" name="Rectangle 7">
            <a:extLst>
              <a:ext uri="{FF2B5EF4-FFF2-40B4-BE49-F238E27FC236}">
                <a16:creationId xmlns:a16="http://schemas.microsoft.com/office/drawing/2014/main" id="{B6F228EA-9FDF-5C3A-234D-5294EED80801}"/>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1F645EC-1E1A-FE63-12A4-113E4C8BB93A}"/>
              </a:ext>
            </a:extLst>
          </p:cNvPr>
          <p:cNvSpPr txBox="1"/>
          <p:nvPr/>
        </p:nvSpPr>
        <p:spPr>
          <a:xfrm>
            <a:off x="17152135" y="103136"/>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data funnel</a:t>
            </a:r>
          </a:p>
        </p:txBody>
      </p:sp>
      <p:grpSp>
        <p:nvGrpSpPr>
          <p:cNvPr id="39" name="Group 38">
            <a:extLst>
              <a:ext uri="{FF2B5EF4-FFF2-40B4-BE49-F238E27FC236}">
                <a16:creationId xmlns:a16="http://schemas.microsoft.com/office/drawing/2014/main" id="{519401AD-F2D8-3D5E-6D99-B5A61A51557C}"/>
              </a:ext>
            </a:extLst>
          </p:cNvPr>
          <p:cNvGrpSpPr/>
          <p:nvPr/>
        </p:nvGrpSpPr>
        <p:grpSpPr>
          <a:xfrm>
            <a:off x="1243631" y="882127"/>
            <a:ext cx="9704737" cy="5447356"/>
            <a:chOff x="1243631" y="788948"/>
            <a:chExt cx="9704737" cy="5447356"/>
          </a:xfrm>
        </p:grpSpPr>
        <p:grpSp>
          <p:nvGrpSpPr>
            <p:cNvPr id="16" name="Group 15">
              <a:extLst>
                <a:ext uri="{FF2B5EF4-FFF2-40B4-BE49-F238E27FC236}">
                  <a16:creationId xmlns:a16="http://schemas.microsoft.com/office/drawing/2014/main" id="{E28C78E1-22AC-0CD5-1083-E3C5AF1DDE9A}"/>
                </a:ext>
              </a:extLst>
            </p:cNvPr>
            <p:cNvGrpSpPr/>
            <p:nvPr/>
          </p:nvGrpSpPr>
          <p:grpSpPr>
            <a:xfrm>
              <a:off x="1243631" y="788948"/>
              <a:ext cx="4142210" cy="1792147"/>
              <a:chOff x="539956" y="917585"/>
              <a:chExt cx="4142210" cy="1792147"/>
            </a:xfrm>
          </p:grpSpPr>
          <p:sp>
            <p:nvSpPr>
              <p:cNvPr id="5" name="TextBox 4">
                <a:extLst>
                  <a:ext uri="{FF2B5EF4-FFF2-40B4-BE49-F238E27FC236}">
                    <a16:creationId xmlns:a16="http://schemas.microsoft.com/office/drawing/2014/main" id="{33CB062E-4E69-C24C-A2C1-19C822295EFA}"/>
                  </a:ext>
                </a:extLst>
              </p:cNvPr>
              <p:cNvSpPr txBox="1"/>
              <p:nvPr/>
            </p:nvSpPr>
            <p:spPr>
              <a:xfrm>
                <a:off x="2696305" y="1459715"/>
                <a:ext cx="1985861" cy="707886"/>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Defining the business problem</a:t>
                </a:r>
              </a:p>
            </p:txBody>
          </p:sp>
          <p:pic>
            <p:nvPicPr>
              <p:cNvPr id="1030" name="Picture 6" descr="Business Meeting PNG, Vector, PSD, and Clipart With Transparent Background  for Free Download | Pngtree">
                <a:extLst>
                  <a:ext uri="{FF2B5EF4-FFF2-40B4-BE49-F238E27FC236}">
                    <a16:creationId xmlns:a16="http://schemas.microsoft.com/office/drawing/2014/main" id="{453089FF-5B6F-818B-4ABB-FF5D46CAC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158" y="917585"/>
                <a:ext cx="1792147" cy="179214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5864391-A08F-89CF-71FC-FAB1A5E38304}"/>
                  </a:ext>
                </a:extLst>
              </p:cNvPr>
              <p:cNvSpPr txBox="1"/>
              <p:nvPr/>
            </p:nvSpPr>
            <p:spPr>
              <a:xfrm>
                <a:off x="539956" y="1552048"/>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1</a:t>
                </a:r>
                <a:endParaRPr lang="en-US" b="1" dirty="0">
                  <a:solidFill>
                    <a:srgbClr val="16406C"/>
                  </a:solidFill>
                  <a:latin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2CC09EDD-4964-F3C5-5E39-11DA2F48A867}"/>
                </a:ext>
              </a:extLst>
            </p:cNvPr>
            <p:cNvGrpSpPr/>
            <p:nvPr/>
          </p:nvGrpSpPr>
          <p:grpSpPr>
            <a:xfrm>
              <a:off x="1243631" y="2886184"/>
              <a:ext cx="3764401" cy="1419430"/>
              <a:chOff x="3507134" y="3947705"/>
              <a:chExt cx="3764401" cy="1419430"/>
            </a:xfrm>
          </p:grpSpPr>
          <p:pic>
            <p:nvPicPr>
              <p:cNvPr id="2050" name="Picture 2" descr="Data collection - Free commerce and shopping icons">
                <a:extLst>
                  <a:ext uri="{FF2B5EF4-FFF2-40B4-BE49-F238E27FC236}">
                    <a16:creationId xmlns:a16="http://schemas.microsoft.com/office/drawing/2014/main" id="{77AB5BA4-9A76-9847-B48D-08675B84E4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6244" y="3947705"/>
                <a:ext cx="1419430" cy="141943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7BEBFB1-ACF5-7E1B-7481-6D0352EC2BB6}"/>
                  </a:ext>
                </a:extLst>
              </p:cNvPr>
              <p:cNvSpPr txBox="1"/>
              <p:nvPr/>
            </p:nvSpPr>
            <p:spPr>
              <a:xfrm>
                <a:off x="5285674" y="4305307"/>
                <a:ext cx="1985861" cy="707886"/>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Inventory and Data Collection</a:t>
                </a:r>
              </a:p>
            </p:txBody>
          </p:sp>
          <p:sp>
            <p:nvSpPr>
              <p:cNvPr id="14" name="TextBox 13">
                <a:extLst>
                  <a:ext uri="{FF2B5EF4-FFF2-40B4-BE49-F238E27FC236}">
                    <a16:creationId xmlns:a16="http://schemas.microsoft.com/office/drawing/2014/main" id="{4984F796-BCF1-FA58-BC04-2ACE7F470EEF}"/>
                  </a:ext>
                </a:extLst>
              </p:cNvPr>
              <p:cNvSpPr txBox="1"/>
              <p:nvPr/>
            </p:nvSpPr>
            <p:spPr>
              <a:xfrm>
                <a:off x="3507134" y="4395810"/>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2</a:t>
                </a:r>
                <a:endParaRPr lang="en-US" b="1" dirty="0">
                  <a:solidFill>
                    <a:srgbClr val="16406C"/>
                  </a:solidFill>
                  <a:latin typeface="Times New Roman" panose="02020603050405020304" pitchFamily="18" charset="0"/>
                  <a:cs typeface="Times New Roman" panose="02020603050405020304" pitchFamily="18" charset="0"/>
                </a:endParaRPr>
              </a:p>
            </p:txBody>
          </p:sp>
        </p:grpSp>
        <p:grpSp>
          <p:nvGrpSpPr>
            <p:cNvPr id="35" name="Group 34">
              <a:extLst>
                <a:ext uri="{FF2B5EF4-FFF2-40B4-BE49-F238E27FC236}">
                  <a16:creationId xmlns:a16="http://schemas.microsoft.com/office/drawing/2014/main" id="{7D3802F3-B23D-AF10-5073-E51641DF08E2}"/>
                </a:ext>
              </a:extLst>
            </p:cNvPr>
            <p:cNvGrpSpPr/>
            <p:nvPr/>
          </p:nvGrpSpPr>
          <p:grpSpPr>
            <a:xfrm>
              <a:off x="1243631" y="4610704"/>
              <a:ext cx="3970571" cy="1625600"/>
              <a:chOff x="622223" y="4648439"/>
              <a:chExt cx="3970571" cy="1625600"/>
            </a:xfrm>
          </p:grpSpPr>
          <p:pic>
            <p:nvPicPr>
              <p:cNvPr id="2052" name="Picture 4" descr="Data cleaning - Free electronics icons">
                <a:extLst>
                  <a:ext uri="{FF2B5EF4-FFF2-40B4-BE49-F238E27FC236}">
                    <a16:creationId xmlns:a16="http://schemas.microsoft.com/office/drawing/2014/main" id="{64EB8EEB-DBCE-48CC-D07A-0BA0E163B7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879" y="4648439"/>
                <a:ext cx="1625600" cy="16256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CC10079-7324-91D5-F667-BD4425ABEE50}"/>
                  </a:ext>
                </a:extLst>
              </p:cNvPr>
              <p:cNvSpPr txBox="1"/>
              <p:nvPr/>
            </p:nvSpPr>
            <p:spPr>
              <a:xfrm>
                <a:off x="2606933" y="5261184"/>
                <a:ext cx="1985861" cy="400110"/>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Data Cleaning</a:t>
                </a:r>
              </a:p>
            </p:txBody>
          </p:sp>
          <p:sp>
            <p:nvSpPr>
              <p:cNvPr id="20" name="TextBox 19">
                <a:extLst>
                  <a:ext uri="{FF2B5EF4-FFF2-40B4-BE49-F238E27FC236}">
                    <a16:creationId xmlns:a16="http://schemas.microsoft.com/office/drawing/2014/main" id="{C1CD74DE-497F-87BC-A9F9-90C10B9D76BE}"/>
                  </a:ext>
                </a:extLst>
              </p:cNvPr>
              <p:cNvSpPr txBox="1"/>
              <p:nvPr/>
            </p:nvSpPr>
            <p:spPr>
              <a:xfrm>
                <a:off x="622223" y="5199629"/>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3</a:t>
                </a:r>
                <a:endParaRPr lang="en-US" b="1" dirty="0">
                  <a:solidFill>
                    <a:srgbClr val="16406C"/>
                  </a:solidFill>
                  <a:latin typeface="Times New Roman" panose="02020603050405020304" pitchFamily="18" charset="0"/>
                  <a:cs typeface="Times New Roman" panose="02020603050405020304" pitchFamily="18" charset="0"/>
                </a:endParaRPr>
              </a:p>
            </p:txBody>
          </p:sp>
        </p:grpSp>
        <p:grpSp>
          <p:nvGrpSpPr>
            <p:cNvPr id="36" name="Group 35">
              <a:extLst>
                <a:ext uri="{FF2B5EF4-FFF2-40B4-BE49-F238E27FC236}">
                  <a16:creationId xmlns:a16="http://schemas.microsoft.com/office/drawing/2014/main" id="{6655E958-1832-D3B5-142A-2DB9D43EA6B7}"/>
                </a:ext>
              </a:extLst>
            </p:cNvPr>
            <p:cNvGrpSpPr/>
            <p:nvPr/>
          </p:nvGrpSpPr>
          <p:grpSpPr>
            <a:xfrm>
              <a:off x="6869620" y="975307"/>
              <a:ext cx="4078748" cy="5260997"/>
              <a:chOff x="6165945" y="1290302"/>
              <a:chExt cx="4078748" cy="5260997"/>
            </a:xfrm>
          </p:grpSpPr>
          <p:grpSp>
            <p:nvGrpSpPr>
              <p:cNvPr id="34" name="Group 33">
                <a:extLst>
                  <a:ext uri="{FF2B5EF4-FFF2-40B4-BE49-F238E27FC236}">
                    <a16:creationId xmlns:a16="http://schemas.microsoft.com/office/drawing/2014/main" id="{62839F1A-8F67-C9E3-452E-F986A5624DE5}"/>
                  </a:ext>
                </a:extLst>
              </p:cNvPr>
              <p:cNvGrpSpPr/>
              <p:nvPr/>
            </p:nvGrpSpPr>
            <p:grpSpPr>
              <a:xfrm>
                <a:off x="6165945" y="1290302"/>
                <a:ext cx="3970571" cy="1419430"/>
                <a:chOff x="6274122" y="1290302"/>
                <a:chExt cx="3970571" cy="1419430"/>
              </a:xfrm>
            </p:grpSpPr>
            <p:pic>
              <p:nvPicPr>
                <p:cNvPr id="2054" name="Picture 6" descr="Data analysis - Free computer icons">
                  <a:extLst>
                    <a:ext uri="{FF2B5EF4-FFF2-40B4-BE49-F238E27FC236}">
                      <a16:creationId xmlns:a16="http://schemas.microsoft.com/office/drawing/2014/main" id="{D3B38AD6-3F77-A36A-BA1F-B2EE91526F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8863" y="1290302"/>
                  <a:ext cx="1419430" cy="141943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150E45FE-96C7-5ADC-4090-8F2A8697A155}"/>
                    </a:ext>
                  </a:extLst>
                </p:cNvPr>
                <p:cNvSpPr txBox="1"/>
                <p:nvPr/>
              </p:nvSpPr>
              <p:spPr>
                <a:xfrm>
                  <a:off x="8258832" y="1799962"/>
                  <a:ext cx="1985861" cy="400110"/>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Data Analysis</a:t>
                  </a:r>
                </a:p>
              </p:txBody>
            </p:sp>
            <p:sp>
              <p:nvSpPr>
                <p:cNvPr id="25" name="TextBox 24">
                  <a:extLst>
                    <a:ext uri="{FF2B5EF4-FFF2-40B4-BE49-F238E27FC236}">
                      <a16:creationId xmlns:a16="http://schemas.microsoft.com/office/drawing/2014/main" id="{C28CAAF8-BD4F-2F19-B71F-45BD64694299}"/>
                    </a:ext>
                  </a:extLst>
                </p:cNvPr>
                <p:cNvSpPr txBox="1"/>
                <p:nvPr/>
              </p:nvSpPr>
              <p:spPr>
                <a:xfrm>
                  <a:off x="6274122" y="1738407"/>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4</a:t>
                  </a:r>
                  <a:endParaRPr lang="en-US" b="1" dirty="0">
                    <a:solidFill>
                      <a:srgbClr val="16406C"/>
                    </a:solidFill>
                    <a:latin typeface="Times New Roman" panose="02020603050405020304" pitchFamily="18" charset="0"/>
                    <a:cs typeface="Times New Roman" panose="02020603050405020304" pitchFamily="18" charset="0"/>
                  </a:endParaRPr>
                </a:p>
              </p:txBody>
            </p:sp>
          </p:grpSp>
          <p:grpSp>
            <p:nvGrpSpPr>
              <p:cNvPr id="33" name="Group 32">
                <a:extLst>
                  <a:ext uri="{FF2B5EF4-FFF2-40B4-BE49-F238E27FC236}">
                    <a16:creationId xmlns:a16="http://schemas.microsoft.com/office/drawing/2014/main" id="{B0AF9AB0-4FAD-2CA8-73EC-615515900C56}"/>
                  </a:ext>
                </a:extLst>
              </p:cNvPr>
              <p:cNvGrpSpPr/>
              <p:nvPr/>
            </p:nvGrpSpPr>
            <p:grpSpPr>
              <a:xfrm>
                <a:off x="6165945" y="3117902"/>
                <a:ext cx="3970571" cy="1625600"/>
                <a:chOff x="6274122" y="3117902"/>
                <a:chExt cx="3970571" cy="1625600"/>
              </a:xfrm>
            </p:grpSpPr>
            <p:pic>
              <p:nvPicPr>
                <p:cNvPr id="2056" name="Picture 8" descr="Communication - Free communications icons">
                  <a:extLst>
                    <a:ext uri="{FF2B5EF4-FFF2-40B4-BE49-F238E27FC236}">
                      <a16:creationId xmlns:a16="http://schemas.microsoft.com/office/drawing/2014/main" id="{45B88F5D-3FF0-E038-4E12-6617264548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35778" y="3117902"/>
                  <a:ext cx="1625600" cy="162560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C27EF5FC-A7EA-BD93-D092-18C3F25E4CE9}"/>
                    </a:ext>
                  </a:extLst>
                </p:cNvPr>
                <p:cNvSpPr txBox="1"/>
                <p:nvPr/>
              </p:nvSpPr>
              <p:spPr>
                <a:xfrm>
                  <a:off x="8258832" y="3576759"/>
                  <a:ext cx="1985861" cy="707886"/>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Insight Communication</a:t>
                  </a:r>
                </a:p>
              </p:txBody>
            </p:sp>
            <p:sp>
              <p:nvSpPr>
                <p:cNvPr id="28" name="TextBox 27">
                  <a:extLst>
                    <a:ext uri="{FF2B5EF4-FFF2-40B4-BE49-F238E27FC236}">
                      <a16:creationId xmlns:a16="http://schemas.microsoft.com/office/drawing/2014/main" id="{414867A1-145C-CF52-D854-7EA462B0520A}"/>
                    </a:ext>
                  </a:extLst>
                </p:cNvPr>
                <p:cNvSpPr txBox="1"/>
                <p:nvPr/>
              </p:nvSpPr>
              <p:spPr>
                <a:xfrm>
                  <a:off x="6274122" y="3669092"/>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5</a:t>
                  </a:r>
                  <a:endParaRPr lang="en-US" b="1" dirty="0">
                    <a:solidFill>
                      <a:srgbClr val="16406C"/>
                    </a:solidFill>
                    <a:latin typeface="Times New Roman" panose="02020603050405020304" pitchFamily="18" charset="0"/>
                    <a:cs typeface="Times New Roman" panose="02020603050405020304" pitchFamily="18" charset="0"/>
                  </a:endParaRPr>
                </a:p>
              </p:txBody>
            </p:sp>
          </p:grpSp>
          <p:grpSp>
            <p:nvGrpSpPr>
              <p:cNvPr id="32" name="Group 31">
                <a:extLst>
                  <a:ext uri="{FF2B5EF4-FFF2-40B4-BE49-F238E27FC236}">
                    <a16:creationId xmlns:a16="http://schemas.microsoft.com/office/drawing/2014/main" id="{217B5A72-493E-E266-16CE-4343753A3294}"/>
                  </a:ext>
                </a:extLst>
              </p:cNvPr>
              <p:cNvGrpSpPr/>
              <p:nvPr/>
            </p:nvGrpSpPr>
            <p:grpSpPr>
              <a:xfrm>
                <a:off x="6165945" y="4925699"/>
                <a:ext cx="4078748" cy="1625600"/>
                <a:chOff x="6165945" y="4925699"/>
                <a:chExt cx="4078748" cy="1625600"/>
              </a:xfrm>
            </p:grpSpPr>
            <p:pic>
              <p:nvPicPr>
                <p:cNvPr id="2058" name="Picture 10" descr="Action - Free people icons">
                  <a:extLst>
                    <a:ext uri="{FF2B5EF4-FFF2-40B4-BE49-F238E27FC236}">
                      <a16:creationId xmlns:a16="http://schemas.microsoft.com/office/drawing/2014/main" id="{D7311C6E-4F7A-72CE-9C16-7547C945CD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1690" y="4925699"/>
                  <a:ext cx="1625600" cy="162560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B06EBA76-72A2-D827-0255-7B4C6942A8AB}"/>
                    </a:ext>
                  </a:extLst>
                </p:cNvPr>
                <p:cNvSpPr txBox="1"/>
                <p:nvPr/>
              </p:nvSpPr>
              <p:spPr>
                <a:xfrm>
                  <a:off x="8258832" y="5538444"/>
                  <a:ext cx="1985861" cy="707886"/>
                </a:xfrm>
                <a:prstGeom prst="rect">
                  <a:avLst/>
                </a:prstGeom>
                <a:noFill/>
              </p:spPr>
              <p:txBody>
                <a:bodyPr wrap="square" rtlCol="0">
                  <a:spAutoFit/>
                </a:bodyPr>
                <a:lstStyle/>
                <a:p>
                  <a:r>
                    <a:rPr lang="en-GB" sz="2000" dirty="0">
                      <a:solidFill>
                        <a:srgbClr val="000000"/>
                      </a:solidFill>
                      <a:latin typeface="Times New Roman" panose="02020603050405020304" pitchFamily="18" charset="0"/>
                      <a:cs typeface="Times New Roman" panose="02020603050405020304" pitchFamily="18" charset="0"/>
                    </a:rPr>
                    <a:t>Action those insights</a:t>
                  </a:r>
                </a:p>
              </p:txBody>
            </p:sp>
            <p:sp>
              <p:nvSpPr>
                <p:cNvPr id="31" name="TextBox 30">
                  <a:extLst>
                    <a:ext uri="{FF2B5EF4-FFF2-40B4-BE49-F238E27FC236}">
                      <a16:creationId xmlns:a16="http://schemas.microsoft.com/office/drawing/2014/main" id="{893DE1F1-B47F-8BFB-1512-EE6A8DFD8923}"/>
                    </a:ext>
                  </a:extLst>
                </p:cNvPr>
                <p:cNvSpPr txBox="1"/>
                <p:nvPr/>
              </p:nvSpPr>
              <p:spPr>
                <a:xfrm>
                  <a:off x="6165945" y="5476889"/>
                  <a:ext cx="364202" cy="523220"/>
                </a:xfrm>
                <a:prstGeom prst="rect">
                  <a:avLst/>
                </a:prstGeom>
                <a:noFill/>
              </p:spPr>
              <p:txBody>
                <a:bodyPr wrap="none" rtlCol="0">
                  <a:spAutoFit/>
                </a:bodyPr>
                <a:lstStyle/>
                <a:p>
                  <a:pPr algn="r"/>
                  <a:r>
                    <a:rPr lang="en-US" sz="2800" b="1" dirty="0">
                      <a:solidFill>
                        <a:srgbClr val="16406C"/>
                      </a:solidFill>
                      <a:latin typeface="Times New Roman" panose="02020603050405020304" pitchFamily="18" charset="0"/>
                      <a:cs typeface="Times New Roman" panose="02020603050405020304" pitchFamily="18" charset="0"/>
                    </a:rPr>
                    <a:t>6</a:t>
                  </a:r>
                  <a:endParaRPr lang="en-US" b="1" dirty="0">
                    <a:solidFill>
                      <a:srgbClr val="16406C"/>
                    </a:solidFill>
                    <a:latin typeface="Times New Roman" panose="02020603050405020304" pitchFamily="18" charset="0"/>
                    <a:cs typeface="Times New Roman" panose="02020603050405020304" pitchFamily="18" charset="0"/>
                  </a:endParaRPr>
                </a:p>
              </p:txBody>
            </p:sp>
          </p:grpSp>
        </p:grpSp>
      </p:grpSp>
    </p:spTree>
    <p:extLst>
      <p:ext uri="{BB962C8B-B14F-4D97-AF65-F5344CB8AC3E}">
        <p14:creationId xmlns:p14="http://schemas.microsoft.com/office/powerpoint/2010/main" val="41268049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2AC9-A566-D7F9-CA5A-8DA19597DB7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9EB5FD-F17D-11E5-47F2-37582193D24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1D3B0A2-1D7C-C19F-4898-3FBFD0008367}"/>
              </a:ext>
            </a:extLst>
          </p:cNvPr>
          <p:cNvSpPr txBox="1"/>
          <p:nvPr/>
        </p:nvSpPr>
        <p:spPr>
          <a:xfrm>
            <a:off x="4960150" y="103136"/>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data funnel</a:t>
            </a:r>
          </a:p>
        </p:txBody>
      </p:sp>
      <p:sp>
        <p:nvSpPr>
          <p:cNvPr id="10" name="Rectangle 9">
            <a:extLst>
              <a:ext uri="{FF2B5EF4-FFF2-40B4-BE49-F238E27FC236}">
                <a16:creationId xmlns:a16="http://schemas.microsoft.com/office/drawing/2014/main" id="{D7619504-DA44-F655-FC62-1205CBB1F94C}"/>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53252A8-8456-61CE-F324-C9B67776A153}"/>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3B5F4029-5BB7-9495-D950-817A86E761FD}"/>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C5B6EAC-A63D-5DBF-63C1-3715306A0786}"/>
              </a:ext>
            </a:extLst>
          </p:cNvPr>
          <p:cNvSpPr txBox="1"/>
          <p:nvPr/>
        </p:nvSpPr>
        <p:spPr>
          <a:xfrm>
            <a:off x="-8052608" y="103135"/>
            <a:ext cx="3913251"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is the basic workflow?</a:t>
            </a:r>
          </a:p>
        </p:txBody>
      </p:sp>
      <p:sp>
        <p:nvSpPr>
          <p:cNvPr id="8" name="Rectangle 7">
            <a:extLst>
              <a:ext uri="{FF2B5EF4-FFF2-40B4-BE49-F238E27FC236}">
                <a16:creationId xmlns:a16="http://schemas.microsoft.com/office/drawing/2014/main" id="{342E6152-538C-61B5-EE98-68A118D05504}"/>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5E73EE5-FD23-1C30-3737-D7233BB58EC9}"/>
              </a:ext>
            </a:extLst>
          </p:cNvPr>
          <p:cNvSpPr txBox="1"/>
          <p:nvPr/>
        </p:nvSpPr>
        <p:spPr>
          <a:xfrm>
            <a:off x="17161431" y="103136"/>
            <a:ext cx="2253182"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 day in the life</a:t>
            </a:r>
          </a:p>
        </p:txBody>
      </p:sp>
      <p:grpSp>
        <p:nvGrpSpPr>
          <p:cNvPr id="26" name="Group 25">
            <a:extLst>
              <a:ext uri="{FF2B5EF4-FFF2-40B4-BE49-F238E27FC236}">
                <a16:creationId xmlns:a16="http://schemas.microsoft.com/office/drawing/2014/main" id="{3A277898-4D09-8262-8F98-70709CBB48F3}"/>
              </a:ext>
            </a:extLst>
          </p:cNvPr>
          <p:cNvGrpSpPr/>
          <p:nvPr/>
        </p:nvGrpSpPr>
        <p:grpSpPr>
          <a:xfrm>
            <a:off x="2445097" y="838653"/>
            <a:ext cx="7301805" cy="5534304"/>
            <a:chOff x="2445097" y="838653"/>
            <a:chExt cx="7301805" cy="5534304"/>
          </a:xfrm>
        </p:grpSpPr>
        <p:pic>
          <p:nvPicPr>
            <p:cNvPr id="3074" name="Picture 2" descr="Funnel infographic presentation template 18876357 PNG">
              <a:extLst>
                <a:ext uri="{FF2B5EF4-FFF2-40B4-BE49-F238E27FC236}">
                  <a16:creationId xmlns:a16="http://schemas.microsoft.com/office/drawing/2014/main" id="{E920FF92-9420-B089-8370-A02F9FFD8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6244" y="1241372"/>
              <a:ext cx="3473692" cy="463731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DA5700F-88B4-656A-540D-5806CA03436F}"/>
                </a:ext>
              </a:extLst>
            </p:cNvPr>
            <p:cNvSpPr txBox="1"/>
            <p:nvPr/>
          </p:nvSpPr>
          <p:spPr>
            <a:xfrm>
              <a:off x="2445097" y="838653"/>
              <a:ext cx="3646966" cy="369332"/>
            </a:xfrm>
            <a:prstGeom prst="rect">
              <a:avLst/>
            </a:prstGeom>
            <a:noFill/>
          </p:spPr>
          <p:txBody>
            <a:bodyPr wrap="square">
              <a:spAutoFit/>
            </a:bodyPr>
            <a:lstStyle/>
            <a:p>
              <a:pPr algn="ctr"/>
              <a:r>
                <a:rPr lang="en-GB" sz="1800" i="1" dirty="0">
                  <a:solidFill>
                    <a:srgbClr val="000000"/>
                  </a:solidFill>
                  <a:latin typeface="Times New Roman" panose="02020603050405020304" pitchFamily="18" charset="0"/>
                  <a:cs typeface="Times New Roman" panose="02020603050405020304" pitchFamily="18" charset="0"/>
                </a:rPr>
                <a:t>Insert Raw Data here</a:t>
              </a:r>
              <a:endParaRPr lang="en-US" i="1" dirty="0"/>
            </a:p>
          </p:txBody>
        </p:sp>
        <p:sp>
          <p:nvSpPr>
            <p:cNvPr id="18" name="TextBox 17">
              <a:extLst>
                <a:ext uri="{FF2B5EF4-FFF2-40B4-BE49-F238E27FC236}">
                  <a16:creationId xmlns:a16="http://schemas.microsoft.com/office/drawing/2014/main" id="{48428312-EFFA-F36F-2953-615316C6FCD8}"/>
                </a:ext>
              </a:extLst>
            </p:cNvPr>
            <p:cNvSpPr txBox="1"/>
            <p:nvPr/>
          </p:nvSpPr>
          <p:spPr>
            <a:xfrm>
              <a:off x="2539607" y="6003625"/>
              <a:ext cx="3646966" cy="369332"/>
            </a:xfrm>
            <a:prstGeom prst="rect">
              <a:avLst/>
            </a:prstGeom>
            <a:noFill/>
          </p:spPr>
          <p:txBody>
            <a:bodyPr wrap="square">
              <a:spAutoFit/>
            </a:bodyPr>
            <a:lstStyle/>
            <a:p>
              <a:pPr algn="ctr"/>
              <a:r>
                <a:rPr lang="en-GB" sz="1800" i="1" dirty="0">
                  <a:solidFill>
                    <a:srgbClr val="000000"/>
                  </a:solidFill>
                  <a:latin typeface="Times New Roman" panose="02020603050405020304" pitchFamily="18" charset="0"/>
                  <a:cs typeface="Times New Roman" panose="02020603050405020304" pitchFamily="18" charset="0"/>
                </a:rPr>
                <a:t>Collect actionable insight here</a:t>
              </a:r>
              <a:endParaRPr lang="en-US" i="1" dirty="0"/>
            </a:p>
          </p:txBody>
        </p:sp>
        <p:sp>
          <p:nvSpPr>
            <p:cNvPr id="22" name="TextBox 21">
              <a:extLst>
                <a:ext uri="{FF2B5EF4-FFF2-40B4-BE49-F238E27FC236}">
                  <a16:creationId xmlns:a16="http://schemas.microsoft.com/office/drawing/2014/main" id="{F7B5F899-18C4-D587-18B0-07931D330799}"/>
                </a:ext>
              </a:extLst>
            </p:cNvPr>
            <p:cNvSpPr txBox="1"/>
            <p:nvPr/>
          </p:nvSpPr>
          <p:spPr>
            <a:xfrm>
              <a:off x="6099936" y="1297871"/>
              <a:ext cx="3646966" cy="4524315"/>
            </a:xfrm>
            <a:prstGeom prst="rect">
              <a:avLst/>
            </a:prstGeom>
            <a:noFill/>
          </p:spPr>
          <p:txBody>
            <a:bodyPr wrap="square">
              <a:spAutoFit/>
            </a:bodyPr>
            <a:lstStyle/>
            <a:p>
              <a:r>
                <a:rPr lang="en-GB" sz="1800" dirty="0">
                  <a:solidFill>
                    <a:srgbClr val="000000"/>
                  </a:solidFill>
                  <a:latin typeface="Times New Roman" panose="02020603050405020304" pitchFamily="18" charset="0"/>
                  <a:cs typeface="Times New Roman" panose="02020603050405020304" pitchFamily="18" charset="0"/>
                </a:rPr>
                <a:t>Defining the problem</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Ethical Considerations</a:t>
              </a:r>
            </a:p>
            <a:p>
              <a:r>
                <a:rPr lang="en-GB" dirty="0">
                  <a:solidFill>
                    <a:srgbClr val="000000"/>
                  </a:solidFill>
                  <a:latin typeface="Times New Roman" panose="02020603050405020304" pitchFamily="18" charset="0"/>
                  <a:cs typeface="Times New Roman" panose="02020603050405020304" pitchFamily="18" charset="0"/>
                </a:rPr>
                <a:t>Stakeholder analysis</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Data exploration</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Hypothesis refinement</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In-depth analysis</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Insight formulation</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Implementation planning</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Presentation and feedback</a:t>
              </a:r>
              <a:endParaRPr lang="en-US" dirty="0"/>
            </a:p>
          </p:txBody>
        </p:sp>
      </p:grpSp>
    </p:spTree>
    <p:extLst>
      <p:ext uri="{BB962C8B-B14F-4D97-AF65-F5344CB8AC3E}">
        <p14:creationId xmlns:p14="http://schemas.microsoft.com/office/powerpoint/2010/main" val="33476018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A327-19EF-EFEE-C61D-EAF453B5904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06A624-FD0F-1B00-9603-9CCA440BD5A5}"/>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D21DD35-A94F-D13F-DB80-355A5298B665}"/>
              </a:ext>
            </a:extLst>
          </p:cNvPr>
          <p:cNvSpPr txBox="1"/>
          <p:nvPr/>
        </p:nvSpPr>
        <p:spPr>
          <a:xfrm>
            <a:off x="4960150" y="103136"/>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 day in the life</a:t>
            </a:r>
          </a:p>
        </p:txBody>
      </p:sp>
      <p:sp>
        <p:nvSpPr>
          <p:cNvPr id="10" name="Rectangle 9">
            <a:extLst>
              <a:ext uri="{FF2B5EF4-FFF2-40B4-BE49-F238E27FC236}">
                <a16:creationId xmlns:a16="http://schemas.microsoft.com/office/drawing/2014/main" id="{2E58C0A3-DE4F-ACC4-6819-2ED2285F3EBC}"/>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21AC953-2306-7574-F873-280A05309DAC}"/>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608D8249-0032-9477-FB8C-7424BC3678B4}"/>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F9FB52-843E-04D5-0224-E0EF7D9B0E0B}"/>
              </a:ext>
            </a:extLst>
          </p:cNvPr>
          <p:cNvSpPr txBox="1"/>
          <p:nvPr/>
        </p:nvSpPr>
        <p:spPr>
          <a:xfrm>
            <a:off x="-7231871" y="103135"/>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data funnel</a:t>
            </a:r>
          </a:p>
        </p:txBody>
      </p:sp>
      <p:sp>
        <p:nvSpPr>
          <p:cNvPr id="8" name="Rectangle 7">
            <a:extLst>
              <a:ext uri="{FF2B5EF4-FFF2-40B4-BE49-F238E27FC236}">
                <a16:creationId xmlns:a16="http://schemas.microsoft.com/office/drawing/2014/main" id="{48F6E622-17F1-8349-1173-EAB378E6908A}"/>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0F9B112-D380-6304-F285-A06FB9502315}"/>
              </a:ext>
            </a:extLst>
          </p:cNvPr>
          <p:cNvSpPr txBox="1"/>
          <p:nvPr/>
        </p:nvSpPr>
        <p:spPr>
          <a:xfrm>
            <a:off x="17159730" y="103136"/>
            <a:ext cx="2256580"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Is there a need?</a:t>
            </a:r>
          </a:p>
        </p:txBody>
      </p:sp>
      <p:sp>
        <p:nvSpPr>
          <p:cNvPr id="22" name="TextBox 21">
            <a:extLst>
              <a:ext uri="{FF2B5EF4-FFF2-40B4-BE49-F238E27FC236}">
                <a16:creationId xmlns:a16="http://schemas.microsoft.com/office/drawing/2014/main" id="{EDEC5B82-7C4F-E82B-C3A8-774053EF8DE0}"/>
              </a:ext>
            </a:extLst>
          </p:cNvPr>
          <p:cNvSpPr txBox="1"/>
          <p:nvPr/>
        </p:nvSpPr>
        <p:spPr>
          <a:xfrm>
            <a:off x="270932" y="928149"/>
            <a:ext cx="11503612" cy="5355312"/>
          </a:xfrm>
          <a:prstGeom prst="rect">
            <a:avLst/>
          </a:prstGeom>
          <a:noFill/>
        </p:spPr>
        <p:txBody>
          <a:bodyPr wrap="square">
            <a:spAutoFit/>
          </a:bodyPr>
          <a:lstStyle/>
          <a:p>
            <a:r>
              <a:rPr lang="en-GB" sz="1800" dirty="0">
                <a:solidFill>
                  <a:srgbClr val="000000"/>
                </a:solidFill>
                <a:latin typeface="Times New Roman" panose="02020603050405020304" pitchFamily="18" charset="0"/>
                <a:cs typeface="Times New Roman" panose="02020603050405020304" pitchFamily="18" charset="0"/>
              </a:rPr>
              <a:t>The day of an analyst is usually split amongst a few different tasks and duties;</a:t>
            </a:r>
          </a:p>
          <a:p>
            <a:endParaRPr lang="en-GB" dirty="0">
              <a:solidFill>
                <a:srgbClr val="000000"/>
              </a:solidFill>
              <a:latin typeface="Times New Roman" panose="02020603050405020304" pitchFamily="18" charset="0"/>
              <a:cs typeface="Times New Roman" panose="02020603050405020304" pitchFamily="18" charset="0"/>
            </a:endParaRPr>
          </a:p>
          <a:p>
            <a:r>
              <a:rPr lang="en-GB" sz="1800" dirty="0">
                <a:solidFill>
                  <a:srgbClr val="000000"/>
                </a:solidFill>
                <a:latin typeface="Times New Roman" panose="02020603050405020304" pitchFamily="18" charset="0"/>
                <a:cs typeface="Times New Roman" panose="02020603050405020304" pitchFamily="18" charset="0"/>
              </a:rPr>
              <a:t>Collecting data – From databases or files</a:t>
            </a:r>
          </a:p>
          <a:p>
            <a:endParaRPr lang="en-GB" dirty="0">
              <a:solidFill>
                <a:srgbClr val="000000"/>
              </a:solidFill>
              <a:latin typeface="Times New Roman" panose="02020603050405020304" pitchFamily="18" charset="0"/>
              <a:cs typeface="Times New Roman" panose="02020603050405020304" pitchFamily="18" charset="0"/>
            </a:endParaRPr>
          </a:p>
          <a:p>
            <a:r>
              <a:rPr lang="en-GB" sz="1800" dirty="0">
                <a:solidFill>
                  <a:srgbClr val="000000"/>
                </a:solidFill>
                <a:latin typeface="Times New Roman" panose="02020603050405020304" pitchFamily="18" charset="0"/>
                <a:cs typeface="Times New Roman" panose="02020603050405020304" pitchFamily="18" charset="0"/>
              </a:rPr>
              <a:t>Cleaning data – Fixing errors or missing values</a:t>
            </a:r>
          </a:p>
          <a:p>
            <a:endParaRPr lang="en-GB" dirty="0">
              <a:solidFill>
                <a:srgbClr val="000000"/>
              </a:solidFill>
              <a:latin typeface="Times New Roman" panose="02020603050405020304" pitchFamily="18" charset="0"/>
              <a:cs typeface="Times New Roman" panose="02020603050405020304" pitchFamily="18" charset="0"/>
            </a:endParaRPr>
          </a:p>
          <a:p>
            <a:r>
              <a:rPr lang="en-GB" sz="1800" dirty="0">
                <a:solidFill>
                  <a:srgbClr val="000000"/>
                </a:solidFill>
                <a:latin typeface="Times New Roman" panose="02020603050405020304" pitchFamily="18" charset="0"/>
                <a:cs typeface="Times New Roman" panose="02020603050405020304" pitchFamily="18" charset="0"/>
              </a:rPr>
              <a:t>Exploring data – looking for trends or patterns</a:t>
            </a:r>
          </a:p>
          <a:p>
            <a:endParaRPr lang="en-GB" dirty="0">
              <a:solidFill>
                <a:srgbClr val="000000"/>
              </a:solidFill>
              <a:latin typeface="Times New Roman" panose="02020603050405020304" pitchFamily="18" charset="0"/>
              <a:cs typeface="Times New Roman" panose="02020603050405020304" pitchFamily="18" charset="0"/>
            </a:endParaRPr>
          </a:p>
          <a:p>
            <a:r>
              <a:rPr lang="en-GB" sz="1800" dirty="0">
                <a:solidFill>
                  <a:srgbClr val="000000"/>
                </a:solidFill>
                <a:latin typeface="Times New Roman" panose="02020603050405020304" pitchFamily="18" charset="0"/>
                <a:cs typeface="Times New Roman" panose="02020603050405020304" pitchFamily="18" charset="0"/>
              </a:rPr>
              <a:t>Visualising data – creating charts and dashboards</a:t>
            </a:r>
          </a:p>
          <a:p>
            <a:endParaRPr lang="en-GB" dirty="0">
              <a:solidFill>
                <a:srgbClr val="000000"/>
              </a:solidFill>
              <a:latin typeface="Times New Roman" panose="02020603050405020304" pitchFamily="18" charset="0"/>
              <a:cs typeface="Times New Roman" panose="02020603050405020304" pitchFamily="18" charset="0"/>
            </a:endParaRPr>
          </a:p>
          <a:p>
            <a:r>
              <a:rPr lang="en-GB" sz="1800" dirty="0">
                <a:solidFill>
                  <a:srgbClr val="000000"/>
                </a:solidFill>
                <a:latin typeface="Times New Roman" panose="02020603050405020304" pitchFamily="18" charset="0"/>
                <a:cs typeface="Times New Roman" panose="02020603050405020304" pitchFamily="18" charset="0"/>
              </a:rPr>
              <a:t>Communicating the results – explaining the insights to teams</a:t>
            </a:r>
          </a:p>
          <a:p>
            <a:endParaRPr lang="en-GB" dirty="0">
              <a:solidFill>
                <a:srgbClr val="000000"/>
              </a:solidFill>
              <a:latin typeface="Times New Roman" panose="02020603050405020304" pitchFamily="18" charset="0"/>
              <a:cs typeface="Times New Roman" panose="02020603050405020304" pitchFamily="18" charset="0"/>
            </a:endParaRPr>
          </a:p>
          <a:p>
            <a:endParaRPr lang="en-GB" dirty="0">
              <a:solidFill>
                <a:srgbClr val="000000"/>
              </a:solidFill>
              <a:latin typeface="Times New Roman" panose="02020603050405020304" pitchFamily="18" charset="0"/>
              <a:cs typeface="Times New Roman" panose="02020603050405020304" pitchFamily="18" charset="0"/>
            </a:endParaRPr>
          </a:p>
          <a:p>
            <a:r>
              <a:rPr lang="en-GB" b="1" dirty="0">
                <a:solidFill>
                  <a:srgbClr val="000000"/>
                </a:solidFill>
                <a:latin typeface="Times New Roman" panose="02020603050405020304" pitchFamily="18" charset="0"/>
                <a:cs typeface="Times New Roman" panose="02020603050405020304" pitchFamily="18" charset="0"/>
              </a:rPr>
              <a:t>Do I need to code?!</a:t>
            </a:r>
            <a:endParaRPr lang="en-US" b="1"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Yes – </a:t>
            </a:r>
            <a:r>
              <a:rPr lang="en-GB" b="1" dirty="0">
                <a:solidFill>
                  <a:srgbClr val="000000"/>
                </a:solidFill>
                <a:latin typeface="Times New Roman" panose="02020603050405020304" pitchFamily="18" charset="0"/>
                <a:cs typeface="Times New Roman" panose="02020603050405020304" pitchFamily="18" charset="0"/>
              </a:rPr>
              <a:t>but</a:t>
            </a:r>
            <a:r>
              <a:rPr lang="en-GB" dirty="0">
                <a:solidFill>
                  <a:srgbClr val="000000"/>
                </a:solidFill>
                <a:latin typeface="Times New Roman" panose="02020603050405020304" pitchFamily="18" charset="0"/>
                <a:cs typeface="Times New Roman" panose="02020603050405020304" pitchFamily="18" charset="0"/>
              </a:rPr>
              <a:t> I think the real value in a data analyst is someone who is curious and able to think creatively about how data can be used and how it can be manipulated / reformatted. The limitation to what you can code is the ideas you can conceive to reach your desired goal. The real strength is your ability to break a big problem into smaller, manageable questions.</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After you have an idea about what you want to do, there are places you can go to learn </a:t>
            </a:r>
            <a:r>
              <a:rPr lang="en-GB" i="1" dirty="0">
                <a:solidFill>
                  <a:srgbClr val="000000"/>
                </a:solidFill>
                <a:latin typeface="Times New Roman" panose="02020603050405020304" pitchFamily="18" charset="0"/>
                <a:cs typeface="Times New Roman" panose="02020603050405020304" pitchFamily="18" charset="0"/>
              </a:rPr>
              <a:t>how</a:t>
            </a:r>
            <a:r>
              <a:rPr lang="en-GB" dirty="0">
                <a:solidFill>
                  <a:srgbClr val="000000"/>
                </a:solidFill>
                <a:latin typeface="Times New Roman" panose="02020603050405020304" pitchFamily="18" charset="0"/>
                <a:cs typeface="Times New Roman" panose="02020603050405020304" pitchFamily="18" charset="0"/>
              </a:rPr>
              <a:t> to do it.</a:t>
            </a:r>
          </a:p>
        </p:txBody>
      </p:sp>
    </p:spTree>
    <p:extLst>
      <p:ext uri="{BB962C8B-B14F-4D97-AF65-F5344CB8AC3E}">
        <p14:creationId xmlns:p14="http://schemas.microsoft.com/office/powerpoint/2010/main" val="26739109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51E7-AB26-CB87-AD23-070D91E57A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4F9213C-DF5C-C791-86EE-EA6A85EE2E5B}"/>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9B277E-2953-C125-FC14-CF9821C548A5}"/>
              </a:ext>
            </a:extLst>
          </p:cNvPr>
          <p:cNvSpPr txBox="1"/>
          <p:nvPr/>
        </p:nvSpPr>
        <p:spPr>
          <a:xfrm>
            <a:off x="4967751" y="103136"/>
            <a:ext cx="2256580"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Is there a need?</a:t>
            </a:r>
          </a:p>
        </p:txBody>
      </p:sp>
      <p:sp>
        <p:nvSpPr>
          <p:cNvPr id="10" name="Rectangle 9">
            <a:extLst>
              <a:ext uri="{FF2B5EF4-FFF2-40B4-BE49-F238E27FC236}">
                <a16:creationId xmlns:a16="http://schemas.microsoft.com/office/drawing/2014/main" id="{BEA7B71F-9567-14C6-4F47-985C20E6F34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36E9FD-2462-37F4-F6CF-7F4B8A5F4862}"/>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5C8A107B-4911-AE71-4C80-A3E7F7ACD0BD}"/>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AF8DEB-B713-3328-D950-F2124EC7964E}"/>
              </a:ext>
            </a:extLst>
          </p:cNvPr>
          <p:cNvSpPr txBox="1"/>
          <p:nvPr/>
        </p:nvSpPr>
        <p:spPr>
          <a:xfrm>
            <a:off x="-7231871" y="103135"/>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 day in the life</a:t>
            </a:r>
          </a:p>
        </p:txBody>
      </p:sp>
      <p:sp>
        <p:nvSpPr>
          <p:cNvPr id="8" name="Rectangle 7">
            <a:extLst>
              <a:ext uri="{FF2B5EF4-FFF2-40B4-BE49-F238E27FC236}">
                <a16:creationId xmlns:a16="http://schemas.microsoft.com/office/drawing/2014/main" id="{66387C8A-8B59-02CA-28AC-AB10B4B33F35}"/>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A1EE02C-6FCC-D5EF-E8F1-A819A77D9799}"/>
              </a:ext>
            </a:extLst>
          </p:cNvPr>
          <p:cNvSpPr txBox="1"/>
          <p:nvPr/>
        </p:nvSpPr>
        <p:spPr>
          <a:xfrm>
            <a:off x="16018407" y="103136"/>
            <a:ext cx="453925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next 6 weeks from a distance</a:t>
            </a:r>
          </a:p>
        </p:txBody>
      </p:sp>
      <p:sp>
        <p:nvSpPr>
          <p:cNvPr id="12" name="TextBox 11">
            <a:extLst>
              <a:ext uri="{FF2B5EF4-FFF2-40B4-BE49-F238E27FC236}">
                <a16:creationId xmlns:a16="http://schemas.microsoft.com/office/drawing/2014/main" id="{241C925C-6041-0D7E-34DE-F052B00F09CD}"/>
              </a:ext>
            </a:extLst>
          </p:cNvPr>
          <p:cNvSpPr txBox="1"/>
          <p:nvPr/>
        </p:nvSpPr>
        <p:spPr>
          <a:xfrm>
            <a:off x="270932" y="928149"/>
            <a:ext cx="11503612" cy="5355312"/>
          </a:xfrm>
          <a:prstGeom prst="rect">
            <a:avLst/>
          </a:prstGeom>
          <a:noFill/>
        </p:spPr>
        <p:txBody>
          <a:bodyPr wrap="square">
            <a:spAutoFit/>
          </a:bodyPr>
          <a:lstStyle/>
          <a:p>
            <a:r>
              <a:rPr lang="en-GB" sz="1800" dirty="0">
                <a:solidFill>
                  <a:srgbClr val="000000"/>
                </a:solidFill>
                <a:latin typeface="Times New Roman" panose="02020603050405020304" pitchFamily="18" charset="0"/>
                <a:cs typeface="Times New Roman" panose="02020603050405020304" pitchFamily="18" charset="0"/>
              </a:rPr>
              <a:t>It’s no secret that now more than ever, businesses are constantly collecting data from the consumer.</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This data comes from websites, mobile apps, online transactions and behaviours, marketing campaigns, customer interactions.</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But all that data is meaningless until someone sits down with it and uses their skills to interpret it and extract insights.</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Because data exists everywhere, there is a place for analysts in many sectors, for example:</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E-commerce: customer behaviour and sales analysis</a:t>
            </a:r>
          </a:p>
          <a:p>
            <a:r>
              <a:rPr lang="en-GB" dirty="0">
                <a:solidFill>
                  <a:srgbClr val="000000"/>
                </a:solidFill>
                <a:latin typeface="Times New Roman" panose="02020603050405020304" pitchFamily="18" charset="0"/>
                <a:cs typeface="Times New Roman" panose="02020603050405020304" pitchFamily="18" charset="0"/>
              </a:rPr>
              <a:t>Finance: Risk assessment and fraud detection</a:t>
            </a:r>
          </a:p>
          <a:p>
            <a:r>
              <a:rPr lang="en-GB" dirty="0">
                <a:solidFill>
                  <a:srgbClr val="000000"/>
                </a:solidFill>
                <a:latin typeface="Times New Roman" panose="02020603050405020304" pitchFamily="18" charset="0"/>
                <a:cs typeface="Times New Roman" panose="02020603050405020304" pitchFamily="18" charset="0"/>
              </a:rPr>
              <a:t>Marketing: campaign performance and customer targeting</a:t>
            </a:r>
          </a:p>
          <a:p>
            <a:r>
              <a:rPr lang="en-GB" dirty="0">
                <a:solidFill>
                  <a:srgbClr val="000000"/>
                </a:solidFill>
                <a:latin typeface="Times New Roman" panose="02020603050405020304" pitchFamily="18" charset="0"/>
                <a:cs typeface="Times New Roman" panose="02020603050405020304" pitchFamily="18" charset="0"/>
              </a:rPr>
              <a:t>Tech: user engagement and product analytics</a:t>
            </a:r>
          </a:p>
          <a:p>
            <a:r>
              <a:rPr lang="en-GB" dirty="0">
                <a:solidFill>
                  <a:srgbClr val="000000"/>
                </a:solidFill>
                <a:latin typeface="Times New Roman" panose="02020603050405020304" pitchFamily="18" charset="0"/>
                <a:cs typeface="Times New Roman" panose="02020603050405020304" pitchFamily="18" charset="0"/>
              </a:rPr>
              <a:t>Logistics: supply chain optimisation</a:t>
            </a:r>
          </a:p>
          <a:p>
            <a:r>
              <a:rPr lang="en-GB" dirty="0">
                <a:solidFill>
                  <a:srgbClr val="000000"/>
                </a:solidFill>
                <a:latin typeface="Times New Roman" panose="02020603050405020304" pitchFamily="18" charset="0"/>
                <a:cs typeface="Times New Roman" panose="02020603050405020304" pitchFamily="18" charset="0"/>
              </a:rPr>
              <a:t>Healthcare: patient data and treatment outcomes</a:t>
            </a:r>
          </a:p>
          <a:p>
            <a:r>
              <a:rPr lang="en-GB" dirty="0">
                <a:solidFill>
                  <a:srgbClr val="000000"/>
                </a:solidFill>
                <a:latin typeface="Times New Roman" panose="02020603050405020304" pitchFamily="18" charset="0"/>
                <a:cs typeface="Times New Roman" panose="02020603050405020304" pitchFamily="18" charset="0"/>
              </a:rPr>
              <a:t>Education: Student engagement and attainment</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Flexibility is a great strength in this field. Take the skills away and you can apply them in any setting, this is why you might notice that most of our project briefs in this placement are not related to pharmacology !</a:t>
            </a:r>
          </a:p>
        </p:txBody>
      </p:sp>
    </p:spTree>
    <p:extLst>
      <p:ext uri="{BB962C8B-B14F-4D97-AF65-F5344CB8AC3E}">
        <p14:creationId xmlns:p14="http://schemas.microsoft.com/office/powerpoint/2010/main" val="34442339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42039-A2F4-FC9B-CB8E-B8D517693B8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FBD9C9-B0FF-8238-19A1-FE99E78673DC}"/>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322FF7C-4AB8-FE04-225E-6D52A6D4D38A}"/>
              </a:ext>
            </a:extLst>
          </p:cNvPr>
          <p:cNvSpPr txBox="1"/>
          <p:nvPr/>
        </p:nvSpPr>
        <p:spPr>
          <a:xfrm>
            <a:off x="3826413" y="103136"/>
            <a:ext cx="453925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next 6 weeks from a distance</a:t>
            </a:r>
          </a:p>
        </p:txBody>
      </p:sp>
      <p:sp>
        <p:nvSpPr>
          <p:cNvPr id="10" name="Rectangle 9">
            <a:extLst>
              <a:ext uri="{FF2B5EF4-FFF2-40B4-BE49-F238E27FC236}">
                <a16:creationId xmlns:a16="http://schemas.microsoft.com/office/drawing/2014/main" id="{6E830EC1-4043-3C1C-E3A8-2CA2095B8A15}"/>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E5169C9-587E-06CB-7366-070BD315804A}"/>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C7D47EC4-153E-07C2-4C35-4AB866254B65}"/>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8051B4-1390-40C9-B008-F0FE0300F40A}"/>
              </a:ext>
            </a:extLst>
          </p:cNvPr>
          <p:cNvSpPr txBox="1"/>
          <p:nvPr/>
        </p:nvSpPr>
        <p:spPr>
          <a:xfrm>
            <a:off x="-7231871" y="103135"/>
            <a:ext cx="227177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Is there a need?</a:t>
            </a:r>
          </a:p>
        </p:txBody>
      </p:sp>
      <p:sp>
        <p:nvSpPr>
          <p:cNvPr id="8" name="Rectangle 7">
            <a:extLst>
              <a:ext uri="{FF2B5EF4-FFF2-40B4-BE49-F238E27FC236}">
                <a16:creationId xmlns:a16="http://schemas.microsoft.com/office/drawing/2014/main" id="{829BB601-A77E-BCA9-6574-05388EC765C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CA1DE63-AFEC-8B1A-02C9-922D85C560DB}"/>
              </a:ext>
            </a:extLst>
          </p:cNvPr>
          <p:cNvSpPr txBox="1"/>
          <p:nvPr/>
        </p:nvSpPr>
        <p:spPr>
          <a:xfrm>
            <a:off x="17028701" y="103136"/>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12" name="TextBox 11">
            <a:extLst>
              <a:ext uri="{FF2B5EF4-FFF2-40B4-BE49-F238E27FC236}">
                <a16:creationId xmlns:a16="http://schemas.microsoft.com/office/drawing/2014/main" id="{A048774D-C017-04D1-DF5F-CFE58D2B61AC}"/>
              </a:ext>
            </a:extLst>
          </p:cNvPr>
          <p:cNvSpPr txBox="1"/>
          <p:nvPr/>
        </p:nvSpPr>
        <p:spPr>
          <a:xfrm>
            <a:off x="270932" y="928149"/>
            <a:ext cx="7373452" cy="3970318"/>
          </a:xfrm>
          <a:prstGeom prst="rect">
            <a:avLst/>
          </a:prstGeom>
          <a:noFill/>
        </p:spPr>
        <p:txBody>
          <a:bodyPr wrap="square">
            <a:spAutoFit/>
          </a:bodyPr>
          <a:lstStyle/>
          <a:p>
            <a:r>
              <a:rPr lang="en-GB" sz="1800" u="sng" dirty="0">
                <a:solidFill>
                  <a:srgbClr val="000000"/>
                </a:solidFill>
                <a:latin typeface="Times New Roman" panose="02020603050405020304" pitchFamily="18" charset="0"/>
                <a:cs typeface="Times New Roman" panose="02020603050405020304" pitchFamily="18" charset="0"/>
              </a:rPr>
              <a:t>We will start by;</a:t>
            </a:r>
          </a:p>
          <a:p>
            <a:endParaRPr lang="en-GB"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1800" dirty="0">
                <a:solidFill>
                  <a:srgbClr val="000000"/>
                </a:solidFill>
                <a:latin typeface="Times New Roman" panose="02020603050405020304" pitchFamily="18" charset="0"/>
                <a:cs typeface="Times New Roman" panose="02020603050405020304" pitchFamily="18" charset="0"/>
              </a:rPr>
              <a:t>Learning the basics of data cleaning and manipulation in R</a:t>
            </a:r>
          </a:p>
          <a:p>
            <a:endParaRPr lang="en-GB"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latin typeface="Times New Roman" panose="02020603050405020304" pitchFamily="18" charset="0"/>
                <a:cs typeface="Times New Roman" panose="02020603050405020304" pitchFamily="18" charset="0"/>
              </a:rPr>
              <a:t>Creating static plots using R that provide useful insight</a:t>
            </a:r>
          </a:p>
          <a:p>
            <a:endParaRPr lang="en-GB"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latin typeface="Times New Roman" panose="02020603050405020304" pitchFamily="18" charset="0"/>
                <a:cs typeface="Times New Roman" panose="02020603050405020304" pitchFamily="18" charset="0"/>
              </a:rPr>
              <a:t>Create dynamic platforms using R Shiny to allow stakeholders to interrogate their data in meaningful ways</a:t>
            </a:r>
          </a:p>
          <a:p>
            <a:endParaRPr lang="en-GB" dirty="0">
              <a:solidFill>
                <a:srgbClr val="000000"/>
              </a:solidFill>
              <a:latin typeface="Times New Roman" panose="02020603050405020304" pitchFamily="18" charset="0"/>
              <a:cs typeface="Times New Roman" panose="02020603050405020304" pitchFamily="18" charset="0"/>
            </a:endParaRPr>
          </a:p>
          <a:p>
            <a:r>
              <a:rPr lang="en-GB" u="sng" dirty="0">
                <a:solidFill>
                  <a:srgbClr val="000000"/>
                </a:solidFill>
                <a:latin typeface="Times New Roman" panose="02020603050405020304" pitchFamily="18" charset="0"/>
                <a:cs typeface="Times New Roman" panose="02020603050405020304" pitchFamily="18" charset="0"/>
              </a:rPr>
              <a:t>If time allows / If there is a demand;</a:t>
            </a:r>
          </a:p>
          <a:p>
            <a:endParaRPr lang="en-GB"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latin typeface="Times New Roman" panose="02020603050405020304" pitchFamily="18" charset="0"/>
                <a:cs typeface="Times New Roman" panose="02020603050405020304" pitchFamily="18" charset="0"/>
              </a:rPr>
              <a:t>Consider a similar framework in Python</a:t>
            </a:r>
          </a:p>
          <a:p>
            <a:endParaRPr lang="en-GB"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latin typeface="Times New Roman" panose="02020603050405020304" pitchFamily="18" charset="0"/>
                <a:cs typeface="Times New Roman" panose="02020603050405020304" pitchFamily="18" charset="0"/>
              </a:rPr>
              <a:t>Visit the basics of SQL</a:t>
            </a:r>
          </a:p>
        </p:txBody>
      </p:sp>
    </p:spTree>
    <p:extLst>
      <p:ext uri="{BB962C8B-B14F-4D97-AF65-F5344CB8AC3E}">
        <p14:creationId xmlns:p14="http://schemas.microsoft.com/office/powerpoint/2010/main" val="35271944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4836726" y="103136"/>
            <a:ext cx="2518639"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8365611" y="103135"/>
            <a:ext cx="453925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The next 6 weeks from a distance</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8084284" y="103136"/>
            <a:ext cx="407483"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2" name="TextBox 11">
            <a:extLst>
              <a:ext uri="{FF2B5EF4-FFF2-40B4-BE49-F238E27FC236}">
                <a16:creationId xmlns:a16="http://schemas.microsoft.com/office/drawing/2014/main" id="{58D0A7DB-5B75-6B33-6E7F-7BFCE4B0C7CF}"/>
              </a:ext>
            </a:extLst>
          </p:cNvPr>
          <p:cNvSpPr txBox="1"/>
          <p:nvPr/>
        </p:nvSpPr>
        <p:spPr>
          <a:xfrm>
            <a:off x="270932" y="928149"/>
            <a:ext cx="7373452" cy="1754326"/>
          </a:xfrm>
          <a:prstGeom prst="rect">
            <a:avLst/>
          </a:prstGeom>
          <a:noFill/>
        </p:spPr>
        <p:txBody>
          <a:bodyPr wrap="square">
            <a:spAutoFit/>
          </a:bodyPr>
          <a:lstStyle/>
          <a:p>
            <a:r>
              <a:rPr lang="en-GB" dirty="0">
                <a:solidFill>
                  <a:srgbClr val="000000"/>
                </a:solidFill>
                <a:latin typeface="Times New Roman" panose="02020603050405020304" pitchFamily="18" charset="0"/>
                <a:cs typeface="Times New Roman" panose="02020603050405020304" pitchFamily="18" charset="0"/>
              </a:rPr>
              <a:t>R</a:t>
            </a:r>
          </a:p>
          <a:p>
            <a:r>
              <a:rPr lang="en-GB" dirty="0">
                <a:solidFill>
                  <a:srgbClr val="000000"/>
                </a:solidFill>
                <a:latin typeface="Times New Roman" panose="02020603050405020304" pitchFamily="18" charset="0"/>
                <a:cs typeface="Times New Roman" panose="02020603050405020304" pitchFamily="18" charset="0"/>
              </a:rPr>
              <a:t>RStudio</a:t>
            </a:r>
          </a:p>
          <a:p>
            <a:r>
              <a:rPr lang="en-GB" dirty="0">
                <a:solidFill>
                  <a:srgbClr val="000000"/>
                </a:solidFill>
                <a:latin typeface="Times New Roman" panose="02020603050405020304" pitchFamily="18" charset="0"/>
                <a:cs typeface="Times New Roman" panose="02020603050405020304" pitchFamily="18" charset="0"/>
              </a:rPr>
              <a:t>VS Code</a:t>
            </a:r>
          </a:p>
          <a:p>
            <a:r>
              <a:rPr lang="en-GB" dirty="0">
                <a:solidFill>
                  <a:srgbClr val="000000"/>
                </a:solidFill>
                <a:latin typeface="Times New Roman" panose="02020603050405020304" pitchFamily="18" charset="0"/>
                <a:cs typeface="Times New Roman" panose="02020603050405020304" pitchFamily="18" charset="0"/>
              </a:rPr>
              <a:t>Git</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&amp; an interest in learning the techniques and exploring your data</a:t>
            </a:r>
          </a:p>
        </p:txBody>
      </p:sp>
    </p:spTree>
    <p:extLst>
      <p:ext uri="{BB962C8B-B14F-4D97-AF65-F5344CB8AC3E}">
        <p14:creationId xmlns:p14="http://schemas.microsoft.com/office/powerpoint/2010/main" val="41494039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339654" y="103136"/>
            <a:ext cx="151278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Resources</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7355302" y="103135"/>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8084284" y="103136"/>
            <a:ext cx="407483"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2" name="TextBox 11">
            <a:extLst>
              <a:ext uri="{FF2B5EF4-FFF2-40B4-BE49-F238E27FC236}">
                <a16:creationId xmlns:a16="http://schemas.microsoft.com/office/drawing/2014/main" id="{58D0A7DB-5B75-6B33-6E7F-7BFCE4B0C7CF}"/>
              </a:ext>
            </a:extLst>
          </p:cNvPr>
          <p:cNvSpPr txBox="1"/>
          <p:nvPr/>
        </p:nvSpPr>
        <p:spPr>
          <a:xfrm>
            <a:off x="270932" y="1733520"/>
            <a:ext cx="11247968" cy="3970318"/>
          </a:xfrm>
          <a:prstGeom prst="rect">
            <a:avLst/>
          </a:prstGeom>
          <a:noFill/>
        </p:spPr>
        <p:txBody>
          <a:bodyPr wrap="square">
            <a:spAutoFit/>
          </a:bodyPr>
          <a:lstStyle/>
          <a:p>
            <a:r>
              <a:rPr lang="en-GB" b="1" u="sng" dirty="0">
                <a:solidFill>
                  <a:srgbClr val="000000"/>
                </a:solidFill>
                <a:latin typeface="Times New Roman" panose="02020603050405020304" pitchFamily="18" charset="0"/>
                <a:cs typeface="Times New Roman" panose="02020603050405020304" pitchFamily="18" charset="0"/>
              </a:rPr>
              <a:t>Connect to the MiFi Hub</a:t>
            </a:r>
            <a:r>
              <a:rPr lang="en-GB" u="sng" dirty="0">
                <a:solidFill>
                  <a:srgbClr val="000000"/>
                </a:solidFill>
                <a:latin typeface="Times New Roman" panose="02020603050405020304" pitchFamily="18" charset="0"/>
                <a:cs typeface="Times New Roman" panose="02020603050405020304" pitchFamily="18" charset="0"/>
              </a:rPr>
              <a:t>:</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ID:</a:t>
            </a:r>
          </a:p>
          <a:p>
            <a:r>
              <a:rPr lang="en-GB" b="1" dirty="0">
                <a:solidFill>
                  <a:srgbClr val="000000"/>
                </a:solidFill>
                <a:latin typeface="Times New Roman" panose="02020603050405020304" pitchFamily="18" charset="0"/>
                <a:cs typeface="Times New Roman" panose="02020603050405020304" pitchFamily="18" charset="0"/>
              </a:rPr>
              <a:t>TP-Link_2E0A</a:t>
            </a:r>
          </a:p>
          <a:p>
            <a:endParaRPr lang="en-GB" dirty="0">
              <a:solidFill>
                <a:srgbClr val="000000"/>
              </a:solidFill>
              <a:latin typeface="Times New Roman" panose="02020603050405020304" pitchFamily="18" charset="0"/>
              <a:cs typeface="Times New Roman" panose="02020603050405020304" pitchFamily="18" charset="0"/>
            </a:endParaRPr>
          </a:p>
          <a:p>
            <a:r>
              <a:rPr lang="en-GB" dirty="0">
                <a:solidFill>
                  <a:srgbClr val="000000"/>
                </a:solidFill>
                <a:latin typeface="Times New Roman" panose="02020603050405020304" pitchFamily="18" charset="0"/>
                <a:cs typeface="Times New Roman" panose="02020603050405020304" pitchFamily="18" charset="0"/>
              </a:rPr>
              <a:t>Password:</a:t>
            </a:r>
          </a:p>
          <a:p>
            <a:r>
              <a:rPr lang="en-GB" b="1" dirty="0">
                <a:solidFill>
                  <a:srgbClr val="000000"/>
                </a:solidFill>
                <a:latin typeface="Times New Roman" panose="02020603050405020304" pitchFamily="18" charset="0"/>
                <a:cs typeface="Times New Roman" panose="02020603050405020304" pitchFamily="18" charset="0"/>
              </a:rPr>
              <a:t>ErzpD3Ej</a:t>
            </a:r>
          </a:p>
          <a:p>
            <a:endParaRPr lang="en-GB" dirty="0">
              <a:solidFill>
                <a:srgbClr val="000000"/>
              </a:solidFill>
              <a:latin typeface="Times New Roman" panose="02020603050405020304" pitchFamily="18" charset="0"/>
              <a:cs typeface="Times New Roman" panose="02020603050405020304" pitchFamily="18" charset="0"/>
            </a:endParaRPr>
          </a:p>
          <a:p>
            <a:r>
              <a:rPr lang="en-GB" u="sng" dirty="0">
                <a:solidFill>
                  <a:srgbClr val="000000"/>
                </a:solidFill>
                <a:latin typeface="Times New Roman" panose="02020603050405020304" pitchFamily="18" charset="0"/>
                <a:cs typeface="Times New Roman" panose="02020603050405020304" pitchFamily="18" charset="0"/>
              </a:rPr>
              <a:t>Where are all the materials?</a:t>
            </a:r>
          </a:p>
          <a:p>
            <a:r>
              <a:rPr lang="en-GB" dirty="0">
                <a:solidFill>
                  <a:srgbClr val="000000"/>
                </a:solidFill>
                <a:latin typeface="Times New Roman" panose="02020603050405020304" pitchFamily="18" charset="0"/>
                <a:cs typeface="Times New Roman" panose="02020603050405020304" pitchFamily="18" charset="0"/>
              </a:rPr>
              <a:t>I have published everything to my </a:t>
            </a:r>
            <a:r>
              <a:rPr lang="en-GB" dirty="0" err="1">
                <a:solidFill>
                  <a:srgbClr val="000000"/>
                </a:solidFill>
                <a:latin typeface="Times New Roman" panose="02020603050405020304" pitchFamily="18" charset="0"/>
                <a:cs typeface="Times New Roman" panose="02020603050405020304" pitchFamily="18" charset="0"/>
              </a:rPr>
              <a:t>github</a:t>
            </a:r>
            <a:r>
              <a:rPr lang="en-GB" dirty="0">
                <a:solidFill>
                  <a:srgbClr val="000000"/>
                </a:solidFill>
                <a:latin typeface="Times New Roman" panose="02020603050405020304" pitchFamily="18" charset="0"/>
                <a:cs typeface="Times New Roman" panose="02020603050405020304" pitchFamily="18" charset="0"/>
              </a:rPr>
              <a:t> page, you can access the landing page and navigate everything from here:</a:t>
            </a:r>
          </a:p>
          <a:p>
            <a:endParaRPr lang="en-GB" dirty="0">
              <a:solidFill>
                <a:srgbClr val="000000"/>
              </a:solidFill>
              <a:latin typeface="Times New Roman" panose="02020603050405020304" pitchFamily="18" charset="0"/>
              <a:cs typeface="Times New Roman" panose="02020603050405020304" pitchFamily="18" charset="0"/>
            </a:endParaRPr>
          </a:p>
          <a:p>
            <a:r>
              <a:rPr lang="en-GB" b="1" dirty="0">
                <a:solidFill>
                  <a:srgbClr val="000000"/>
                </a:solidFill>
                <a:latin typeface="Times New Roman" panose="02020603050405020304" pitchFamily="18" charset="0"/>
                <a:cs typeface="Times New Roman" panose="02020603050405020304" pitchFamily="18" charset="0"/>
                <a:hlinkClick r:id="rId3"/>
              </a:rPr>
              <a:t>https://ersiloshaj.github.io/dataAnalyticsModule/</a:t>
            </a:r>
            <a:endParaRPr lang="en-GB" b="1" dirty="0">
              <a:solidFill>
                <a:srgbClr val="000000"/>
              </a:solidFill>
              <a:latin typeface="Times New Roman" panose="02020603050405020304" pitchFamily="18" charset="0"/>
              <a:cs typeface="Times New Roman" panose="02020603050405020304" pitchFamily="18" charset="0"/>
            </a:endParaRPr>
          </a:p>
          <a:p>
            <a:endParaRPr lang="en-GB" b="1" dirty="0">
              <a:solidFill>
                <a:srgbClr val="000000"/>
              </a:solidFill>
              <a:latin typeface="Times New Roman" panose="02020603050405020304" pitchFamily="18" charset="0"/>
              <a:cs typeface="Times New Roman" panose="02020603050405020304" pitchFamily="18" charset="0"/>
            </a:endParaRPr>
          </a:p>
          <a:p>
            <a:r>
              <a:rPr lang="en-GB" b="1" dirty="0">
                <a:solidFill>
                  <a:srgbClr val="000000"/>
                </a:solidFill>
                <a:latin typeface="Times New Roman" panose="02020603050405020304" pitchFamily="18" charset="0"/>
                <a:cs typeface="Times New Roman" panose="02020603050405020304" pitchFamily="18" charset="0"/>
              </a:rPr>
              <a:t>Not everything is visible right away, I will unlock as we go through it.</a:t>
            </a:r>
          </a:p>
        </p:txBody>
      </p:sp>
    </p:spTree>
    <p:extLst>
      <p:ext uri="{BB962C8B-B14F-4D97-AF65-F5344CB8AC3E}">
        <p14:creationId xmlns:p14="http://schemas.microsoft.com/office/powerpoint/2010/main" val="35661595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3"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52374" y="103135"/>
            <a:ext cx="1512786"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Resources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6092649" y="103136"/>
            <a:ext cx="439075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What’s going on in this dataset?</a:t>
            </a:r>
          </a:p>
        </p:txBody>
      </p:sp>
      <p:sp>
        <p:nvSpPr>
          <p:cNvPr id="12" name="TextBox 11">
            <a:extLst>
              <a:ext uri="{FF2B5EF4-FFF2-40B4-BE49-F238E27FC236}">
                <a16:creationId xmlns:a16="http://schemas.microsoft.com/office/drawing/2014/main" id="{58D0A7DB-5B75-6B33-6E7F-7BFCE4B0C7CF}"/>
              </a:ext>
            </a:extLst>
          </p:cNvPr>
          <p:cNvSpPr txBox="1"/>
          <p:nvPr/>
        </p:nvSpPr>
        <p:spPr>
          <a:xfrm>
            <a:off x="270932" y="1205148"/>
            <a:ext cx="7373452" cy="4801314"/>
          </a:xfrm>
          <a:prstGeom prst="rect">
            <a:avLst/>
          </a:prstGeom>
          <a:noFill/>
        </p:spPr>
        <p:txBody>
          <a:bodyPr wrap="square">
            <a:spAutoFit/>
          </a:bodyPr>
          <a:lstStyle/>
          <a:p>
            <a:r>
              <a:rPr lang="en-US" b="0" i="0" dirty="0">
                <a:solidFill>
                  <a:srgbClr val="5F6368"/>
                </a:solidFill>
                <a:effectLst/>
                <a:latin typeface="Google Sans Code"/>
              </a:rPr>
              <a:t># This is a comment</a:t>
            </a:r>
            <a:r>
              <a:rPr lang="en-US" b="0" i="0" dirty="0">
                <a:solidFill>
                  <a:srgbClr val="444746"/>
                </a:solidFill>
                <a:effectLst/>
                <a:latin typeface="Google Sans Code"/>
              </a:rPr>
              <a:t> </a:t>
            </a:r>
          </a:p>
          <a:p>
            <a:r>
              <a:rPr lang="en-US" b="0" i="0" dirty="0">
                <a:solidFill>
                  <a:srgbClr val="B55908"/>
                </a:solidFill>
                <a:effectLst/>
                <a:latin typeface="Google Sans Code"/>
              </a:rPr>
              <a:t>2</a:t>
            </a:r>
            <a:r>
              <a:rPr lang="en-US" b="0" i="0" dirty="0">
                <a:solidFill>
                  <a:srgbClr val="444746"/>
                </a:solidFill>
                <a:effectLst/>
                <a:latin typeface="Google Sans Code"/>
              </a:rPr>
              <a:t> + </a:t>
            </a:r>
            <a:r>
              <a:rPr lang="en-US" b="0" i="0" dirty="0">
                <a:solidFill>
                  <a:srgbClr val="B55908"/>
                </a:solidFill>
                <a:effectLst/>
                <a:latin typeface="Google Sans Code"/>
              </a:rPr>
              <a:t>2</a:t>
            </a:r>
            <a:r>
              <a:rPr lang="en-US" b="0" i="0" dirty="0">
                <a:solidFill>
                  <a:srgbClr val="444746"/>
                </a:solidFill>
                <a:effectLst/>
                <a:latin typeface="Google Sans Code"/>
              </a:rPr>
              <a:t> </a:t>
            </a:r>
            <a:r>
              <a:rPr lang="en-US" b="0" i="0" dirty="0">
                <a:solidFill>
                  <a:srgbClr val="5F6368"/>
                </a:solidFill>
                <a:effectLst/>
                <a:latin typeface="Google Sans Code"/>
              </a:rPr>
              <a:t># Addition</a:t>
            </a:r>
            <a:r>
              <a:rPr lang="en-US" b="0" i="0" dirty="0">
                <a:solidFill>
                  <a:srgbClr val="444746"/>
                </a:solidFill>
                <a:effectLst/>
                <a:latin typeface="Google Sans Code"/>
              </a:rPr>
              <a:t> </a:t>
            </a:r>
          </a:p>
          <a:p>
            <a:r>
              <a:rPr lang="en-US" b="0" i="0" dirty="0">
                <a:solidFill>
                  <a:srgbClr val="B55908"/>
                </a:solidFill>
                <a:effectLst/>
                <a:latin typeface="Google Sans Code"/>
              </a:rPr>
              <a:t>10</a:t>
            </a:r>
            <a:r>
              <a:rPr lang="en-US" b="0" i="0" dirty="0">
                <a:solidFill>
                  <a:srgbClr val="444746"/>
                </a:solidFill>
                <a:effectLst/>
                <a:latin typeface="Google Sans Code"/>
              </a:rPr>
              <a:t> / </a:t>
            </a:r>
            <a:r>
              <a:rPr lang="en-US" b="0" i="0" dirty="0">
                <a:solidFill>
                  <a:srgbClr val="B55908"/>
                </a:solidFill>
                <a:effectLst/>
                <a:latin typeface="Google Sans Code"/>
              </a:rPr>
              <a:t>5</a:t>
            </a:r>
            <a:r>
              <a:rPr lang="en-US" b="0" i="0" dirty="0">
                <a:solidFill>
                  <a:srgbClr val="444746"/>
                </a:solidFill>
                <a:effectLst/>
                <a:latin typeface="Google Sans Code"/>
              </a:rPr>
              <a:t> </a:t>
            </a:r>
            <a:r>
              <a:rPr lang="en-US" b="0" i="0" dirty="0">
                <a:solidFill>
                  <a:srgbClr val="5F6368"/>
                </a:solidFill>
                <a:effectLst/>
                <a:latin typeface="Google Sans Code"/>
              </a:rPr>
              <a:t># Division</a:t>
            </a:r>
            <a:r>
              <a:rPr lang="en-US" b="0" i="0" dirty="0">
                <a:solidFill>
                  <a:srgbClr val="444746"/>
                </a:solidFill>
                <a:effectLst/>
                <a:latin typeface="Google Sans Code"/>
              </a:rPr>
              <a:t> </a:t>
            </a:r>
          </a:p>
          <a:p>
            <a:r>
              <a:rPr lang="en-US" b="0" i="0" dirty="0">
                <a:solidFill>
                  <a:srgbClr val="B55908"/>
                </a:solidFill>
                <a:effectLst/>
                <a:latin typeface="Google Sans Code"/>
              </a:rPr>
              <a:t>3</a:t>
            </a:r>
            <a:r>
              <a:rPr lang="en-US" b="0" i="0" dirty="0">
                <a:solidFill>
                  <a:srgbClr val="444746"/>
                </a:solidFill>
                <a:effectLst/>
                <a:latin typeface="Google Sans Code"/>
              </a:rPr>
              <a:t>^</a:t>
            </a:r>
            <a:r>
              <a:rPr lang="en-US" b="0" i="0" dirty="0">
                <a:solidFill>
                  <a:srgbClr val="B55908"/>
                </a:solidFill>
                <a:effectLst/>
                <a:latin typeface="Google Sans Code"/>
              </a:rPr>
              <a:t>2</a:t>
            </a:r>
            <a:r>
              <a:rPr lang="en-US" b="0" i="0" dirty="0">
                <a:solidFill>
                  <a:srgbClr val="444746"/>
                </a:solidFill>
                <a:effectLst/>
                <a:latin typeface="Google Sans Code"/>
              </a:rPr>
              <a:t> </a:t>
            </a:r>
            <a:r>
              <a:rPr lang="en-US" b="0" i="0" dirty="0">
                <a:solidFill>
                  <a:srgbClr val="5F6368"/>
                </a:solidFill>
                <a:effectLst/>
                <a:latin typeface="Google Sans Code"/>
              </a:rPr>
              <a:t># Exponent</a:t>
            </a:r>
          </a:p>
          <a:p>
            <a:endParaRPr lang="en-US" dirty="0">
              <a:solidFill>
                <a:srgbClr val="5F6368"/>
              </a:solidFill>
              <a:latin typeface="Google Sans Code"/>
              <a:cs typeface="Times New Roman" panose="02020603050405020304" pitchFamily="18" charset="0"/>
            </a:endParaRPr>
          </a:p>
          <a:p>
            <a:r>
              <a:rPr lang="en-US" b="0" i="0" dirty="0">
                <a:solidFill>
                  <a:srgbClr val="444746"/>
                </a:solidFill>
                <a:effectLst/>
                <a:latin typeface="Google Sans Code"/>
              </a:rPr>
              <a:t>age &lt;- 25</a:t>
            </a:r>
          </a:p>
          <a:p>
            <a:r>
              <a:rPr lang="en-US" b="0" i="0" dirty="0">
                <a:solidFill>
                  <a:srgbClr val="444746"/>
                </a:solidFill>
                <a:effectLst/>
                <a:latin typeface="Google Sans Code"/>
              </a:rPr>
              <a:t>name &lt;- </a:t>
            </a:r>
            <a:r>
              <a:rPr lang="en-US" b="0" i="0" dirty="0">
                <a:solidFill>
                  <a:srgbClr val="188038"/>
                </a:solidFill>
                <a:effectLst/>
                <a:latin typeface="Google Sans Code"/>
              </a:rPr>
              <a:t>"Alex“</a:t>
            </a:r>
            <a:endParaRPr lang="en-US" dirty="0">
              <a:solidFill>
                <a:srgbClr val="444746"/>
              </a:solidFill>
              <a:latin typeface="Google Sans Code"/>
            </a:endParaRPr>
          </a:p>
          <a:p>
            <a:r>
              <a:rPr lang="en-US" b="0" i="0" dirty="0" err="1">
                <a:solidFill>
                  <a:srgbClr val="444746"/>
                </a:solidFill>
                <a:effectLst/>
                <a:latin typeface="Google Sans Code"/>
              </a:rPr>
              <a:t>is_student</a:t>
            </a:r>
            <a:r>
              <a:rPr lang="en-US" b="0" i="0" dirty="0">
                <a:solidFill>
                  <a:srgbClr val="444746"/>
                </a:solidFill>
                <a:effectLst/>
                <a:latin typeface="Google Sans Code"/>
              </a:rPr>
              <a:t> &lt;- </a:t>
            </a:r>
            <a:r>
              <a:rPr lang="en-US" b="0" i="0" dirty="0">
                <a:solidFill>
                  <a:srgbClr val="B55908"/>
                </a:solidFill>
                <a:effectLst/>
                <a:latin typeface="Google Sans Code"/>
              </a:rPr>
              <a:t>TRUE</a:t>
            </a:r>
          </a:p>
          <a:p>
            <a:endParaRPr lang="en-US" dirty="0">
              <a:solidFill>
                <a:srgbClr val="B55908"/>
              </a:solidFill>
              <a:latin typeface="Google Sans Code"/>
              <a:cs typeface="Times New Roman" panose="02020603050405020304" pitchFamily="18" charset="0"/>
            </a:endParaRPr>
          </a:p>
          <a:p>
            <a:r>
              <a:rPr lang="en-US" dirty="0">
                <a:solidFill>
                  <a:srgbClr val="B55908"/>
                </a:solidFill>
                <a:latin typeface="Google Sans Code"/>
                <a:cs typeface="Times New Roman" panose="02020603050405020304" pitchFamily="18" charset="0"/>
              </a:rPr>
              <a:t>Numeric (15.3), Character (“a string”), Logical (TRUE, FALSE)</a:t>
            </a:r>
          </a:p>
          <a:p>
            <a:endParaRPr lang="en-US" dirty="0">
              <a:solidFill>
                <a:srgbClr val="B55908"/>
              </a:solidFill>
              <a:latin typeface="Google Sans Code"/>
              <a:cs typeface="Times New Roman" panose="02020603050405020304" pitchFamily="18" charset="0"/>
            </a:endParaRPr>
          </a:p>
          <a:p>
            <a:r>
              <a:rPr lang="en-US" b="0" i="0" dirty="0">
                <a:solidFill>
                  <a:srgbClr val="5F6368"/>
                </a:solidFill>
                <a:effectLst/>
                <a:latin typeface="Google Sans Code"/>
              </a:rPr>
              <a:t># A numeric vector</a:t>
            </a:r>
            <a:endParaRPr lang="en-US" dirty="0">
              <a:solidFill>
                <a:srgbClr val="444746"/>
              </a:solidFill>
              <a:latin typeface="Google Sans Code"/>
            </a:endParaRPr>
          </a:p>
          <a:p>
            <a:r>
              <a:rPr lang="en-US" b="0" i="0" dirty="0">
                <a:solidFill>
                  <a:srgbClr val="444746"/>
                </a:solidFill>
                <a:effectLst/>
                <a:latin typeface="Google Sans Code"/>
              </a:rPr>
              <a:t>scores &lt;- </a:t>
            </a:r>
            <a:r>
              <a:rPr lang="en-US" b="0" i="0" dirty="0">
                <a:solidFill>
                  <a:srgbClr val="1967D2"/>
                </a:solidFill>
                <a:effectLst/>
                <a:latin typeface="Google Sans Code"/>
              </a:rPr>
              <a:t>c</a:t>
            </a:r>
            <a:r>
              <a:rPr lang="en-US" b="0" i="0" dirty="0">
                <a:solidFill>
                  <a:srgbClr val="444746"/>
                </a:solidFill>
                <a:effectLst/>
                <a:latin typeface="Google Sans Code"/>
              </a:rPr>
              <a:t>(</a:t>
            </a:r>
            <a:r>
              <a:rPr lang="en-US" b="0" i="0" dirty="0">
                <a:solidFill>
                  <a:srgbClr val="B55908"/>
                </a:solidFill>
                <a:effectLst/>
                <a:latin typeface="Google Sans Code"/>
              </a:rPr>
              <a:t>85</a:t>
            </a:r>
            <a:r>
              <a:rPr lang="en-US" b="0" i="0" dirty="0">
                <a:solidFill>
                  <a:srgbClr val="444746"/>
                </a:solidFill>
                <a:effectLst/>
                <a:latin typeface="Google Sans Code"/>
              </a:rPr>
              <a:t>, </a:t>
            </a:r>
            <a:r>
              <a:rPr lang="en-US" b="0" i="0" dirty="0">
                <a:solidFill>
                  <a:srgbClr val="B55908"/>
                </a:solidFill>
                <a:effectLst/>
                <a:latin typeface="Google Sans Code"/>
              </a:rPr>
              <a:t>92</a:t>
            </a:r>
            <a:r>
              <a:rPr lang="en-US" b="0" i="0" dirty="0">
                <a:solidFill>
                  <a:srgbClr val="444746"/>
                </a:solidFill>
                <a:effectLst/>
                <a:latin typeface="Google Sans Code"/>
              </a:rPr>
              <a:t>, </a:t>
            </a:r>
            <a:r>
              <a:rPr lang="en-US" b="0" i="0" dirty="0">
                <a:solidFill>
                  <a:srgbClr val="B55908"/>
                </a:solidFill>
                <a:effectLst/>
                <a:latin typeface="Google Sans Code"/>
              </a:rPr>
              <a:t>78</a:t>
            </a:r>
            <a:r>
              <a:rPr lang="en-US" b="0" i="0" dirty="0">
                <a:solidFill>
                  <a:srgbClr val="444746"/>
                </a:solidFill>
                <a:effectLst/>
                <a:latin typeface="Google Sans Code"/>
              </a:rPr>
              <a:t>, </a:t>
            </a:r>
            <a:r>
              <a:rPr lang="en-US" b="0" i="0" dirty="0">
                <a:solidFill>
                  <a:srgbClr val="B55908"/>
                </a:solidFill>
                <a:effectLst/>
                <a:latin typeface="Google Sans Code"/>
              </a:rPr>
              <a:t>90</a:t>
            </a:r>
            <a:r>
              <a:rPr lang="en-US" b="0" i="0" dirty="0">
                <a:solidFill>
                  <a:srgbClr val="444746"/>
                </a:solidFill>
                <a:effectLst/>
                <a:latin typeface="Google Sans Code"/>
              </a:rPr>
              <a:t>)</a:t>
            </a:r>
          </a:p>
          <a:p>
            <a:r>
              <a:rPr lang="en-US" b="0" i="0" dirty="0">
                <a:solidFill>
                  <a:srgbClr val="5F6368"/>
                </a:solidFill>
                <a:effectLst/>
                <a:latin typeface="Google Sans Code"/>
              </a:rPr>
              <a:t># A character vector</a:t>
            </a:r>
            <a:r>
              <a:rPr lang="en-US" b="0" i="0" dirty="0">
                <a:solidFill>
                  <a:srgbClr val="444746"/>
                </a:solidFill>
                <a:effectLst/>
                <a:latin typeface="Google Sans Code"/>
              </a:rPr>
              <a:t> fruits &lt;- </a:t>
            </a:r>
            <a:r>
              <a:rPr lang="en-US" b="0" i="0" dirty="0">
                <a:solidFill>
                  <a:srgbClr val="1967D2"/>
                </a:solidFill>
                <a:effectLst/>
                <a:latin typeface="Google Sans Code"/>
              </a:rPr>
              <a:t>c</a:t>
            </a:r>
            <a:r>
              <a:rPr lang="en-US" b="0" i="0" dirty="0">
                <a:solidFill>
                  <a:srgbClr val="444746"/>
                </a:solidFill>
                <a:effectLst/>
                <a:latin typeface="Google Sans Code"/>
              </a:rPr>
              <a:t>(</a:t>
            </a:r>
            <a:r>
              <a:rPr lang="en-US" b="0" i="0" dirty="0">
                <a:solidFill>
                  <a:srgbClr val="188038"/>
                </a:solidFill>
                <a:effectLst/>
                <a:latin typeface="Google Sans Code"/>
              </a:rPr>
              <a:t>"apple"</a:t>
            </a:r>
            <a:r>
              <a:rPr lang="en-US" b="0" i="0" dirty="0">
                <a:solidFill>
                  <a:srgbClr val="444746"/>
                </a:solidFill>
                <a:effectLst/>
                <a:latin typeface="Google Sans Code"/>
              </a:rPr>
              <a:t>, </a:t>
            </a:r>
            <a:r>
              <a:rPr lang="en-US" b="0" i="0" dirty="0">
                <a:solidFill>
                  <a:srgbClr val="188038"/>
                </a:solidFill>
                <a:effectLst/>
                <a:latin typeface="Google Sans Code"/>
              </a:rPr>
              <a:t>"banana"</a:t>
            </a:r>
            <a:r>
              <a:rPr lang="en-US" b="0" i="0" dirty="0">
                <a:solidFill>
                  <a:srgbClr val="444746"/>
                </a:solidFill>
                <a:effectLst/>
                <a:latin typeface="Google Sans Code"/>
              </a:rPr>
              <a:t>, </a:t>
            </a:r>
            <a:r>
              <a:rPr lang="en-US" b="0" i="0" dirty="0">
                <a:solidFill>
                  <a:srgbClr val="188038"/>
                </a:solidFill>
                <a:effectLst/>
                <a:latin typeface="Google Sans Code"/>
              </a:rPr>
              <a:t>"cherry"</a:t>
            </a:r>
            <a:r>
              <a:rPr lang="en-US" b="0" i="0" dirty="0">
                <a:solidFill>
                  <a:srgbClr val="444746"/>
                </a:solidFill>
                <a:effectLst/>
                <a:latin typeface="Google Sans Code"/>
              </a:rPr>
              <a:t>) </a:t>
            </a:r>
          </a:p>
          <a:p>
            <a:endParaRPr lang="en-US" dirty="0">
              <a:solidFill>
                <a:srgbClr val="444746"/>
              </a:solidFill>
              <a:latin typeface="Google Sans Code"/>
            </a:endParaRPr>
          </a:p>
          <a:p>
            <a:r>
              <a:rPr lang="en-US" b="0" i="0" dirty="0">
                <a:solidFill>
                  <a:srgbClr val="5F6368"/>
                </a:solidFill>
                <a:effectLst/>
                <a:latin typeface="Google Sans Code"/>
              </a:rPr>
              <a:t># Accessing elements (R starts counting at 1, not 0 like in python!)</a:t>
            </a:r>
            <a:endParaRPr lang="en-US" dirty="0">
              <a:solidFill>
                <a:srgbClr val="444746"/>
              </a:solidFill>
              <a:latin typeface="Google Sans Code"/>
            </a:endParaRPr>
          </a:p>
          <a:p>
            <a:r>
              <a:rPr lang="en-US" b="0" i="0" dirty="0">
                <a:solidFill>
                  <a:srgbClr val="444746"/>
                </a:solidFill>
                <a:effectLst/>
                <a:latin typeface="Google Sans Code"/>
              </a:rPr>
              <a:t>fruits[</a:t>
            </a:r>
            <a:r>
              <a:rPr lang="en-US" b="0" i="0" dirty="0">
                <a:solidFill>
                  <a:srgbClr val="B55908"/>
                </a:solidFill>
                <a:effectLst/>
                <a:latin typeface="Google Sans Code"/>
              </a:rPr>
              <a:t>1</a:t>
            </a:r>
            <a:r>
              <a:rPr lang="en-US" b="0" i="0" dirty="0">
                <a:solidFill>
                  <a:srgbClr val="444746"/>
                </a:solidFill>
                <a:effectLst/>
                <a:latin typeface="Google Sans Code"/>
              </a:rPr>
              <a:t>] </a:t>
            </a:r>
            <a:r>
              <a:rPr lang="en-US" b="0" i="0" dirty="0">
                <a:solidFill>
                  <a:srgbClr val="5F6368"/>
                </a:solidFill>
                <a:effectLst/>
                <a:latin typeface="Google Sans Code"/>
              </a:rPr>
              <a:t># Returns "apple”</a:t>
            </a:r>
          </a:p>
        </p:txBody>
      </p:sp>
    </p:spTree>
    <p:extLst>
      <p:ext uri="{BB962C8B-B14F-4D97-AF65-F5344CB8AC3E}">
        <p14:creationId xmlns:p14="http://schemas.microsoft.com/office/powerpoint/2010/main" val="26347188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3"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7355302" y="103135"/>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6092649" y="103136"/>
            <a:ext cx="439075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What’s going on in this dataset?</a:t>
            </a:r>
          </a:p>
        </p:txBody>
      </p:sp>
      <p:sp>
        <p:nvSpPr>
          <p:cNvPr id="12" name="TextBox 11">
            <a:extLst>
              <a:ext uri="{FF2B5EF4-FFF2-40B4-BE49-F238E27FC236}">
                <a16:creationId xmlns:a16="http://schemas.microsoft.com/office/drawing/2014/main" id="{58D0A7DB-5B75-6B33-6E7F-7BFCE4B0C7CF}"/>
              </a:ext>
            </a:extLst>
          </p:cNvPr>
          <p:cNvSpPr txBox="1"/>
          <p:nvPr/>
        </p:nvSpPr>
        <p:spPr>
          <a:xfrm>
            <a:off x="270932" y="2036145"/>
            <a:ext cx="7373452" cy="3139321"/>
          </a:xfrm>
          <a:prstGeom prst="rect">
            <a:avLst/>
          </a:prstGeom>
          <a:noFill/>
        </p:spPr>
        <p:txBody>
          <a:bodyPr wrap="square">
            <a:spAutoFit/>
          </a:bodyPr>
          <a:lstStyle/>
          <a:p>
            <a:r>
              <a:rPr lang="en-US" dirty="0">
                <a:solidFill>
                  <a:srgbClr val="5F6368"/>
                </a:solidFill>
                <a:latin typeface="Google Sans Code"/>
                <a:cs typeface="Times New Roman" panose="02020603050405020304" pitchFamily="18" charset="0"/>
              </a:rPr>
              <a:t>Functions are pre-written pieces of code that do specific tasks, they usually take this form: </a:t>
            </a:r>
            <a:r>
              <a:rPr lang="en-US" dirty="0" err="1">
                <a:solidFill>
                  <a:srgbClr val="5F6368"/>
                </a:solidFill>
                <a:latin typeface="Google Sans Code"/>
                <a:cs typeface="Times New Roman" panose="02020603050405020304" pitchFamily="18" charset="0"/>
              </a:rPr>
              <a:t>function_name</a:t>
            </a:r>
            <a:r>
              <a:rPr lang="en-US" dirty="0">
                <a:solidFill>
                  <a:srgbClr val="5F6368"/>
                </a:solidFill>
                <a:latin typeface="Google Sans Code"/>
                <a:cs typeface="Times New Roman" panose="02020603050405020304" pitchFamily="18" charset="0"/>
              </a:rPr>
              <a:t>(arguments)</a:t>
            </a:r>
          </a:p>
          <a:p>
            <a:endParaRPr lang="en-US" dirty="0">
              <a:solidFill>
                <a:srgbClr val="5F6368"/>
              </a:solidFill>
              <a:latin typeface="Google Sans Code"/>
              <a:cs typeface="Times New Roman" panose="02020603050405020304" pitchFamily="18" charset="0"/>
            </a:endParaRPr>
          </a:p>
          <a:p>
            <a:r>
              <a:rPr lang="en-US" dirty="0">
                <a:solidFill>
                  <a:srgbClr val="5F6368"/>
                </a:solidFill>
                <a:latin typeface="Google Sans Code"/>
                <a:cs typeface="Times New Roman" panose="02020603050405020304" pitchFamily="18" charset="0"/>
              </a:rPr>
              <a:t>For example;</a:t>
            </a:r>
          </a:p>
          <a:p>
            <a:r>
              <a:rPr lang="en-GB" dirty="0">
                <a:solidFill>
                  <a:srgbClr val="000000"/>
                </a:solidFill>
                <a:latin typeface="Times New Roman" panose="02020603050405020304" pitchFamily="18" charset="0"/>
                <a:cs typeface="Times New Roman" panose="02020603050405020304" pitchFamily="18" charset="0"/>
              </a:rPr>
              <a:t>mean(scores)</a:t>
            </a:r>
          </a:p>
          <a:p>
            <a:r>
              <a:rPr lang="en-US" dirty="0">
                <a:solidFill>
                  <a:srgbClr val="5F6368"/>
                </a:solidFill>
                <a:latin typeface="Google Sans Code"/>
                <a:cs typeface="Times New Roman" panose="02020603050405020304" pitchFamily="18" charset="0"/>
              </a:rPr>
              <a:t>sum(scores)</a:t>
            </a:r>
          </a:p>
          <a:p>
            <a:r>
              <a:rPr lang="en-US" dirty="0">
                <a:solidFill>
                  <a:srgbClr val="5F6368"/>
                </a:solidFill>
                <a:latin typeface="Google Sans Code"/>
                <a:cs typeface="Times New Roman" panose="02020603050405020304" pitchFamily="18" charset="0"/>
              </a:rPr>
              <a:t>length(scores)</a:t>
            </a:r>
          </a:p>
          <a:p>
            <a:endParaRPr lang="en-US" dirty="0">
              <a:solidFill>
                <a:srgbClr val="5F6368"/>
              </a:solidFill>
              <a:latin typeface="Google Sans Code"/>
              <a:cs typeface="Times New Roman" panose="02020603050405020304" pitchFamily="18" charset="0"/>
            </a:endParaRPr>
          </a:p>
          <a:p>
            <a:r>
              <a:rPr lang="en-US" dirty="0">
                <a:solidFill>
                  <a:srgbClr val="5F6368"/>
                </a:solidFill>
                <a:latin typeface="Google Sans Code"/>
                <a:cs typeface="Times New Roman" panose="02020603050405020304" pitchFamily="18" charset="0"/>
              </a:rPr>
              <a:t>If you are stuck you can do ? Before any function to see the official documentation, this can help when you have more complex functions and want to know how the arguments stack inside it. For example </a:t>
            </a:r>
            <a:r>
              <a:rPr lang="en-US" b="1" dirty="0">
                <a:solidFill>
                  <a:srgbClr val="5F6368"/>
                </a:solidFill>
                <a:latin typeface="Google Sans Code"/>
                <a:cs typeface="Times New Roman" panose="02020603050405020304" pitchFamily="18" charset="0"/>
              </a:rPr>
              <a:t>?mean</a:t>
            </a:r>
          </a:p>
        </p:txBody>
      </p:sp>
    </p:spTree>
    <p:extLst>
      <p:ext uri="{BB962C8B-B14F-4D97-AF65-F5344CB8AC3E}">
        <p14:creationId xmlns:p14="http://schemas.microsoft.com/office/powerpoint/2010/main" val="36736985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3"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7355302" y="103135"/>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6092649" y="103136"/>
            <a:ext cx="439075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What’s going on in this dataset?</a:t>
            </a:r>
          </a:p>
        </p:txBody>
      </p:sp>
      <p:sp>
        <p:nvSpPr>
          <p:cNvPr id="12" name="TextBox 11">
            <a:extLst>
              <a:ext uri="{FF2B5EF4-FFF2-40B4-BE49-F238E27FC236}">
                <a16:creationId xmlns:a16="http://schemas.microsoft.com/office/drawing/2014/main" id="{58D0A7DB-5B75-6B33-6E7F-7BFCE4B0C7CF}"/>
              </a:ext>
            </a:extLst>
          </p:cNvPr>
          <p:cNvSpPr txBox="1"/>
          <p:nvPr/>
        </p:nvSpPr>
        <p:spPr>
          <a:xfrm>
            <a:off x="452079" y="789650"/>
            <a:ext cx="9310950" cy="5632311"/>
          </a:xfrm>
          <a:prstGeom prst="rect">
            <a:avLst/>
          </a:prstGeom>
          <a:noFill/>
        </p:spPr>
        <p:txBody>
          <a:bodyPr wrap="square">
            <a:spAutoFit/>
          </a:bodyPr>
          <a:lstStyle/>
          <a:p>
            <a:r>
              <a:rPr lang="en-US" dirty="0">
                <a:solidFill>
                  <a:srgbClr val="5F6368"/>
                </a:solidFill>
                <a:latin typeface="Google Sans Code"/>
                <a:cs typeface="Times New Roman" panose="02020603050405020304" pitchFamily="18" charset="0"/>
              </a:rPr>
              <a:t>A lot of your work will involve </a:t>
            </a:r>
            <a:r>
              <a:rPr lang="en-US" dirty="0" err="1">
                <a:solidFill>
                  <a:srgbClr val="5F6368"/>
                </a:solidFill>
                <a:latin typeface="Google Sans Code"/>
                <a:cs typeface="Times New Roman" panose="02020603050405020304" pitchFamily="18" charset="0"/>
              </a:rPr>
              <a:t>dataframes</a:t>
            </a:r>
            <a:r>
              <a:rPr lang="en-US" dirty="0">
                <a:solidFill>
                  <a:srgbClr val="5F6368"/>
                </a:solidFill>
                <a:latin typeface="Google Sans Code"/>
                <a:cs typeface="Times New Roman" panose="02020603050405020304" pitchFamily="18" charset="0"/>
              </a:rPr>
              <a:t>, you can think of these like tables where every column is a vector. We can make a simple one of our own like so;</a:t>
            </a:r>
          </a:p>
          <a:p>
            <a:endParaRPr lang="en-US" b="1" dirty="0">
              <a:solidFill>
                <a:srgbClr val="5F6368"/>
              </a:solidFill>
              <a:latin typeface="Google Sans Code"/>
              <a:cs typeface="Times New Roman" panose="02020603050405020304" pitchFamily="18" charset="0"/>
            </a:endParaRPr>
          </a:p>
          <a:p>
            <a:r>
              <a:rPr lang="en-US" b="0" i="0" dirty="0">
                <a:solidFill>
                  <a:srgbClr val="444746"/>
                </a:solidFill>
                <a:effectLst/>
                <a:latin typeface="Google Sans Code"/>
              </a:rPr>
              <a:t>students &lt;- </a:t>
            </a:r>
            <a:r>
              <a:rPr lang="en-US" b="0" i="0" dirty="0" err="1">
                <a:solidFill>
                  <a:srgbClr val="444746"/>
                </a:solidFill>
                <a:effectLst/>
                <a:latin typeface="Google Sans Code"/>
              </a:rPr>
              <a:t>data.frame</a:t>
            </a:r>
            <a:r>
              <a:rPr lang="en-US" b="0" i="0" dirty="0">
                <a:solidFill>
                  <a:srgbClr val="444746"/>
                </a:solidFill>
                <a:effectLst/>
                <a:latin typeface="Google Sans Code"/>
              </a:rPr>
              <a:t>(</a:t>
            </a:r>
          </a:p>
          <a:p>
            <a:r>
              <a:rPr lang="en-US" dirty="0">
                <a:solidFill>
                  <a:srgbClr val="444746"/>
                </a:solidFill>
                <a:latin typeface="Google Sans Code"/>
              </a:rPr>
              <a:t>	</a:t>
            </a:r>
            <a:r>
              <a:rPr lang="en-US" b="0" i="0" dirty="0">
                <a:solidFill>
                  <a:srgbClr val="1967D2"/>
                </a:solidFill>
                <a:effectLst/>
                <a:latin typeface="Google Sans Code"/>
              </a:rPr>
              <a:t>names</a:t>
            </a:r>
            <a:r>
              <a:rPr lang="en-US" b="0" i="0" dirty="0">
                <a:solidFill>
                  <a:srgbClr val="444746"/>
                </a:solidFill>
                <a:effectLst/>
                <a:latin typeface="Google Sans Code"/>
              </a:rPr>
              <a:t> = </a:t>
            </a:r>
            <a:r>
              <a:rPr lang="en-US" b="0" i="0" dirty="0">
                <a:solidFill>
                  <a:srgbClr val="1967D2"/>
                </a:solidFill>
                <a:effectLst/>
                <a:latin typeface="Google Sans Code"/>
              </a:rPr>
              <a:t>c</a:t>
            </a:r>
            <a:r>
              <a:rPr lang="en-US" b="0" i="0" dirty="0">
                <a:solidFill>
                  <a:srgbClr val="444746"/>
                </a:solidFill>
                <a:effectLst/>
                <a:latin typeface="Google Sans Code"/>
              </a:rPr>
              <a:t>(</a:t>
            </a:r>
            <a:r>
              <a:rPr lang="en-US" b="0" i="0" dirty="0">
                <a:solidFill>
                  <a:srgbClr val="188038"/>
                </a:solidFill>
                <a:effectLst/>
                <a:latin typeface="Google Sans Code"/>
              </a:rPr>
              <a:t>"Mo"</a:t>
            </a:r>
            <a:r>
              <a:rPr lang="en-US" b="0" i="0" dirty="0">
                <a:solidFill>
                  <a:srgbClr val="444746"/>
                </a:solidFill>
                <a:effectLst/>
                <a:latin typeface="Google Sans Code"/>
              </a:rPr>
              <a:t>, </a:t>
            </a:r>
            <a:r>
              <a:rPr lang="en-US" b="0" i="0" dirty="0">
                <a:solidFill>
                  <a:srgbClr val="188038"/>
                </a:solidFill>
                <a:effectLst/>
                <a:latin typeface="Google Sans Code"/>
              </a:rPr>
              <a:t>"Sarah"</a:t>
            </a:r>
            <a:r>
              <a:rPr lang="en-US" b="0" i="0" dirty="0">
                <a:solidFill>
                  <a:srgbClr val="444746"/>
                </a:solidFill>
                <a:effectLst/>
                <a:latin typeface="Google Sans Code"/>
              </a:rPr>
              <a:t>, </a:t>
            </a:r>
            <a:r>
              <a:rPr lang="en-US" b="0" i="0" dirty="0">
                <a:solidFill>
                  <a:srgbClr val="188038"/>
                </a:solidFill>
                <a:effectLst/>
                <a:latin typeface="Google Sans Code"/>
              </a:rPr>
              <a:t>"Jen"</a:t>
            </a:r>
            <a:r>
              <a:rPr lang="en-US" b="0" i="0" dirty="0">
                <a:solidFill>
                  <a:srgbClr val="444746"/>
                </a:solidFill>
                <a:effectLst/>
                <a:latin typeface="Google Sans Code"/>
              </a:rPr>
              <a:t>),</a:t>
            </a:r>
          </a:p>
          <a:p>
            <a:r>
              <a:rPr lang="en-US" dirty="0">
                <a:solidFill>
                  <a:srgbClr val="444746"/>
                </a:solidFill>
                <a:latin typeface="Google Sans Code"/>
              </a:rPr>
              <a:t>	</a:t>
            </a:r>
            <a:r>
              <a:rPr lang="en-US" b="0" i="0" dirty="0">
                <a:solidFill>
                  <a:srgbClr val="444746"/>
                </a:solidFill>
                <a:effectLst/>
                <a:latin typeface="Google Sans Code"/>
              </a:rPr>
              <a:t>grades = </a:t>
            </a:r>
            <a:r>
              <a:rPr lang="en-US" b="0" i="0" dirty="0">
                <a:solidFill>
                  <a:srgbClr val="1967D2"/>
                </a:solidFill>
                <a:effectLst/>
                <a:latin typeface="Google Sans Code"/>
              </a:rPr>
              <a:t>c</a:t>
            </a:r>
            <a:r>
              <a:rPr lang="en-US" b="0" i="0" dirty="0">
                <a:solidFill>
                  <a:srgbClr val="444746"/>
                </a:solidFill>
                <a:effectLst/>
                <a:latin typeface="Google Sans Code"/>
              </a:rPr>
              <a:t>(</a:t>
            </a:r>
            <a:r>
              <a:rPr lang="en-US" b="0" i="0" dirty="0">
                <a:solidFill>
                  <a:srgbClr val="B55908"/>
                </a:solidFill>
                <a:effectLst/>
                <a:latin typeface="Google Sans Code"/>
              </a:rPr>
              <a:t>88</a:t>
            </a:r>
            <a:r>
              <a:rPr lang="en-US" b="0" i="0" dirty="0">
                <a:solidFill>
                  <a:srgbClr val="444746"/>
                </a:solidFill>
                <a:effectLst/>
                <a:latin typeface="Google Sans Code"/>
              </a:rPr>
              <a:t>, </a:t>
            </a:r>
            <a:r>
              <a:rPr lang="en-US" b="0" i="0" dirty="0">
                <a:solidFill>
                  <a:srgbClr val="B55908"/>
                </a:solidFill>
                <a:effectLst/>
                <a:latin typeface="Google Sans Code"/>
              </a:rPr>
              <a:t>95</a:t>
            </a:r>
            <a:r>
              <a:rPr lang="en-US" b="0" i="0" dirty="0">
                <a:solidFill>
                  <a:srgbClr val="444746"/>
                </a:solidFill>
                <a:effectLst/>
                <a:latin typeface="Google Sans Code"/>
              </a:rPr>
              <a:t>, </a:t>
            </a:r>
            <a:r>
              <a:rPr lang="en-US" b="0" i="0" dirty="0">
                <a:solidFill>
                  <a:srgbClr val="B55908"/>
                </a:solidFill>
                <a:effectLst/>
                <a:latin typeface="Google Sans Code"/>
              </a:rPr>
              <a:t>82</a:t>
            </a:r>
            <a:r>
              <a:rPr lang="en-US" b="0" i="0" dirty="0">
                <a:solidFill>
                  <a:srgbClr val="444746"/>
                </a:solidFill>
                <a:effectLst/>
                <a:latin typeface="Google Sans Code"/>
              </a:rPr>
              <a:t>) )</a:t>
            </a:r>
          </a:p>
          <a:p>
            <a:endParaRPr lang="en-US" dirty="0">
              <a:solidFill>
                <a:srgbClr val="444746"/>
              </a:solidFill>
              <a:latin typeface="Google Sans Code"/>
            </a:endParaRPr>
          </a:p>
          <a:p>
            <a:r>
              <a:rPr lang="en-US" b="0" i="0" dirty="0">
                <a:solidFill>
                  <a:srgbClr val="5F6368"/>
                </a:solidFill>
                <a:effectLst/>
                <a:latin typeface="Google Sans Code"/>
              </a:rPr>
              <a:t># See the first few rows</a:t>
            </a:r>
            <a:endParaRPr lang="en-US" dirty="0">
              <a:solidFill>
                <a:srgbClr val="444746"/>
              </a:solidFill>
              <a:latin typeface="Google Sans Code"/>
            </a:endParaRPr>
          </a:p>
          <a:p>
            <a:r>
              <a:rPr lang="en-US" b="0" i="0" dirty="0">
                <a:solidFill>
                  <a:srgbClr val="444746"/>
                </a:solidFill>
                <a:effectLst/>
                <a:latin typeface="Google Sans Code"/>
              </a:rPr>
              <a:t>head(students)</a:t>
            </a:r>
          </a:p>
          <a:p>
            <a:r>
              <a:rPr lang="en-US" dirty="0">
                <a:solidFill>
                  <a:srgbClr val="444746"/>
                </a:solidFill>
                <a:latin typeface="Google Sans Code"/>
              </a:rPr>
              <a:t># Check the documentation and learn how you can choose how many rows to see</a:t>
            </a:r>
          </a:p>
          <a:p>
            <a:endParaRPr lang="en-US" dirty="0">
              <a:solidFill>
                <a:srgbClr val="444746"/>
              </a:solidFill>
              <a:latin typeface="Google Sans Code"/>
            </a:endParaRPr>
          </a:p>
          <a:p>
            <a:r>
              <a:rPr lang="en-US" b="0" i="0" dirty="0">
                <a:solidFill>
                  <a:srgbClr val="5F6368"/>
                </a:solidFill>
                <a:effectLst/>
                <a:latin typeface="Google Sans Code"/>
              </a:rPr>
              <a:t># Access a specific column using the $ sign</a:t>
            </a:r>
            <a:endParaRPr lang="en-US" dirty="0">
              <a:solidFill>
                <a:srgbClr val="444746"/>
              </a:solidFill>
              <a:latin typeface="Google Sans Code"/>
            </a:endParaRPr>
          </a:p>
          <a:p>
            <a:r>
              <a:rPr lang="en-US" b="0" i="0" dirty="0" err="1">
                <a:solidFill>
                  <a:srgbClr val="444746"/>
                </a:solidFill>
                <a:effectLst/>
                <a:latin typeface="Google Sans Code"/>
              </a:rPr>
              <a:t>students$grades</a:t>
            </a:r>
            <a:endParaRPr lang="en-US" b="0" i="0" dirty="0">
              <a:solidFill>
                <a:srgbClr val="444746"/>
              </a:solidFill>
              <a:effectLst/>
              <a:latin typeface="Google Sans Code"/>
            </a:endParaRPr>
          </a:p>
          <a:p>
            <a:endParaRPr lang="en-US" dirty="0">
              <a:solidFill>
                <a:srgbClr val="444746"/>
              </a:solidFill>
              <a:latin typeface="Google Sans Code"/>
              <a:cs typeface="Times New Roman" panose="02020603050405020304" pitchFamily="18" charset="0"/>
            </a:endParaRPr>
          </a:p>
          <a:p>
            <a:endParaRPr lang="en-US" b="1" dirty="0">
              <a:solidFill>
                <a:srgbClr val="5F6368"/>
              </a:solidFill>
              <a:latin typeface="Google Sans Code"/>
              <a:cs typeface="Times New Roman" panose="02020603050405020304" pitchFamily="18" charset="0"/>
            </a:endParaRPr>
          </a:p>
          <a:p>
            <a:r>
              <a:rPr lang="en-US" b="1" u="sng" dirty="0">
                <a:solidFill>
                  <a:srgbClr val="5F6368"/>
                </a:solidFill>
                <a:latin typeface="Google Sans Code"/>
                <a:cs typeface="Times New Roman" panose="02020603050405020304" pitchFamily="18" charset="0"/>
              </a:rPr>
              <a:t>Some syntax rules;</a:t>
            </a:r>
          </a:p>
          <a:p>
            <a:r>
              <a:rPr lang="en-US" b="1" dirty="0">
                <a:solidFill>
                  <a:srgbClr val="5F6368"/>
                </a:solidFill>
                <a:latin typeface="Google Sans Code"/>
                <a:cs typeface="Times New Roman" panose="02020603050405020304" pitchFamily="18" charset="0"/>
              </a:rPr>
              <a:t>() used for functions</a:t>
            </a:r>
          </a:p>
          <a:p>
            <a:r>
              <a:rPr lang="en-US" b="1" dirty="0">
                <a:solidFill>
                  <a:srgbClr val="5F6368"/>
                </a:solidFill>
                <a:latin typeface="Google Sans Code"/>
                <a:cs typeface="Times New Roman" panose="02020603050405020304" pitchFamily="18" charset="0"/>
              </a:rPr>
              <a:t>[] used for indexing and </a:t>
            </a:r>
            <a:r>
              <a:rPr lang="en-US" b="1" dirty="0" err="1">
                <a:solidFill>
                  <a:srgbClr val="5F6368"/>
                </a:solidFill>
                <a:latin typeface="Google Sans Code"/>
                <a:cs typeface="Times New Roman" panose="02020603050405020304" pitchFamily="18" charset="0"/>
              </a:rPr>
              <a:t>subsetting</a:t>
            </a:r>
            <a:r>
              <a:rPr lang="en-US" b="1" dirty="0">
                <a:solidFill>
                  <a:srgbClr val="5F6368"/>
                </a:solidFill>
                <a:latin typeface="Google Sans Code"/>
                <a:cs typeface="Times New Roman" panose="02020603050405020304" pitchFamily="18" charset="0"/>
              </a:rPr>
              <a:t> data</a:t>
            </a:r>
          </a:p>
          <a:p>
            <a:r>
              <a:rPr lang="en-US" b="1" dirty="0">
                <a:solidFill>
                  <a:srgbClr val="5F6368"/>
                </a:solidFill>
                <a:latin typeface="Google Sans Code"/>
                <a:cs typeface="Times New Roman" panose="02020603050405020304" pitchFamily="18" charset="0"/>
              </a:rPr>
              <a:t>, used to separate arguments in functions or dimensions in </a:t>
            </a:r>
            <a:r>
              <a:rPr lang="en-US" b="1" dirty="0" err="1">
                <a:solidFill>
                  <a:srgbClr val="5F6368"/>
                </a:solidFill>
                <a:latin typeface="Google Sans Code"/>
                <a:cs typeface="Times New Roman" panose="02020603050405020304" pitchFamily="18" charset="0"/>
              </a:rPr>
              <a:t>dataframes</a:t>
            </a:r>
            <a:endParaRPr lang="en-US" b="1" dirty="0">
              <a:solidFill>
                <a:srgbClr val="5F6368"/>
              </a:solidFill>
              <a:latin typeface="Google Sans Code"/>
              <a:cs typeface="Times New Roman" panose="02020603050405020304" pitchFamily="18" charset="0"/>
            </a:endParaRPr>
          </a:p>
          <a:p>
            <a:r>
              <a:rPr lang="en-US" b="1" dirty="0">
                <a:solidFill>
                  <a:srgbClr val="5F6368"/>
                </a:solidFill>
                <a:latin typeface="Google Sans Code"/>
                <a:cs typeface="Times New Roman" panose="02020603050405020304" pitchFamily="18" charset="0"/>
              </a:rPr>
              <a:t>“ ” for text, otherwise R could think you are referring to a variable name which may not exist</a:t>
            </a:r>
          </a:p>
        </p:txBody>
      </p:sp>
    </p:spTree>
    <p:extLst>
      <p:ext uri="{BB962C8B-B14F-4D97-AF65-F5344CB8AC3E}">
        <p14:creationId xmlns:p14="http://schemas.microsoft.com/office/powerpoint/2010/main" val="7747160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3"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7355302" y="103135"/>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6092649" y="103136"/>
            <a:ext cx="439075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What’s going on in this dataset?</a:t>
            </a:r>
          </a:p>
        </p:txBody>
      </p:sp>
      <p:sp>
        <p:nvSpPr>
          <p:cNvPr id="12" name="TextBox 11">
            <a:extLst>
              <a:ext uri="{FF2B5EF4-FFF2-40B4-BE49-F238E27FC236}">
                <a16:creationId xmlns:a16="http://schemas.microsoft.com/office/drawing/2014/main" id="{58D0A7DB-5B75-6B33-6E7F-7BFCE4B0C7CF}"/>
              </a:ext>
            </a:extLst>
          </p:cNvPr>
          <p:cNvSpPr txBox="1"/>
          <p:nvPr/>
        </p:nvSpPr>
        <p:spPr>
          <a:xfrm>
            <a:off x="452079" y="789650"/>
            <a:ext cx="10739662" cy="1754326"/>
          </a:xfrm>
          <a:prstGeom prst="rect">
            <a:avLst/>
          </a:prstGeom>
          <a:noFill/>
        </p:spPr>
        <p:txBody>
          <a:bodyPr wrap="square">
            <a:spAutoFit/>
          </a:bodyPr>
          <a:lstStyle/>
          <a:p>
            <a:r>
              <a:rPr lang="en-US" dirty="0">
                <a:solidFill>
                  <a:srgbClr val="5F6368"/>
                </a:solidFill>
                <a:latin typeface="Google Sans Code"/>
                <a:cs typeface="Times New Roman" panose="02020603050405020304" pitchFamily="18" charset="0"/>
              </a:rPr>
              <a:t>In the R community people don’t write code from scratch every time, they use packages/libraries.</a:t>
            </a:r>
          </a:p>
          <a:p>
            <a:endParaRPr lang="en-US" b="1" dirty="0">
              <a:solidFill>
                <a:srgbClr val="5F6368"/>
              </a:solidFill>
              <a:latin typeface="Google Sans Code"/>
              <a:cs typeface="Times New Roman" panose="02020603050405020304" pitchFamily="18" charset="0"/>
            </a:endParaRPr>
          </a:p>
          <a:p>
            <a:r>
              <a:rPr lang="en-US" b="1" dirty="0">
                <a:solidFill>
                  <a:srgbClr val="5F6368"/>
                </a:solidFill>
                <a:latin typeface="Google Sans Code"/>
                <a:cs typeface="Times New Roman" panose="02020603050405020304" pitchFamily="18" charset="0"/>
              </a:rPr>
              <a:t>One of the most popular and powerful packages is “</a:t>
            </a:r>
            <a:r>
              <a:rPr lang="en-US" b="1" dirty="0" err="1">
                <a:solidFill>
                  <a:srgbClr val="5F6368"/>
                </a:solidFill>
                <a:latin typeface="Google Sans Code"/>
                <a:cs typeface="Times New Roman" panose="02020603050405020304" pitchFamily="18" charset="0"/>
              </a:rPr>
              <a:t>tidyverse</a:t>
            </a:r>
            <a:r>
              <a:rPr lang="en-US" b="1" dirty="0">
                <a:solidFill>
                  <a:srgbClr val="5F6368"/>
                </a:solidFill>
                <a:latin typeface="Google Sans Code"/>
                <a:cs typeface="Times New Roman" panose="02020603050405020304" pitchFamily="18" charset="0"/>
              </a:rPr>
              <a:t>”. It contains many important functions that will be useful to you.</a:t>
            </a:r>
          </a:p>
          <a:p>
            <a:endParaRPr lang="en-US" b="1" dirty="0">
              <a:solidFill>
                <a:srgbClr val="5F6368"/>
              </a:solidFill>
              <a:latin typeface="Google Sans Code"/>
              <a:cs typeface="Times New Roman" panose="02020603050405020304" pitchFamily="18" charset="0"/>
            </a:endParaRPr>
          </a:p>
          <a:p>
            <a:endParaRPr lang="en-US" b="1" dirty="0">
              <a:solidFill>
                <a:srgbClr val="5F6368"/>
              </a:solidFill>
              <a:latin typeface="Google Sans Code"/>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916B3AD-E4F2-2D9E-058F-6E5A14D1D546}"/>
              </a:ext>
            </a:extLst>
          </p:cNvPr>
          <p:cNvGraphicFramePr>
            <a:graphicFrameLocks noGrp="1"/>
          </p:cNvGraphicFramePr>
          <p:nvPr>
            <p:extLst>
              <p:ext uri="{D42A27DB-BD31-4B8C-83A1-F6EECF244321}">
                <p14:modId xmlns:p14="http://schemas.microsoft.com/office/powerpoint/2010/main" val="844240029"/>
              </p:ext>
            </p:extLst>
          </p:nvPr>
        </p:nvGraphicFramePr>
        <p:xfrm>
          <a:off x="452079" y="2184935"/>
          <a:ext cx="5440224" cy="3883415"/>
        </p:xfrm>
        <a:graphic>
          <a:graphicData uri="http://schemas.openxmlformats.org/drawingml/2006/table">
            <a:tbl>
              <a:tblPr/>
              <a:tblGrid>
                <a:gridCol w="1813408">
                  <a:extLst>
                    <a:ext uri="{9D8B030D-6E8A-4147-A177-3AD203B41FA5}">
                      <a16:colId xmlns:a16="http://schemas.microsoft.com/office/drawing/2014/main" val="2795263937"/>
                    </a:ext>
                  </a:extLst>
                </a:gridCol>
                <a:gridCol w="2164846">
                  <a:extLst>
                    <a:ext uri="{9D8B030D-6E8A-4147-A177-3AD203B41FA5}">
                      <a16:colId xmlns:a16="http://schemas.microsoft.com/office/drawing/2014/main" val="3955001081"/>
                    </a:ext>
                  </a:extLst>
                </a:gridCol>
                <a:gridCol w="1461970">
                  <a:extLst>
                    <a:ext uri="{9D8B030D-6E8A-4147-A177-3AD203B41FA5}">
                      <a16:colId xmlns:a16="http://schemas.microsoft.com/office/drawing/2014/main" val="1115278388"/>
                    </a:ext>
                  </a:extLst>
                </a:gridCol>
              </a:tblGrid>
              <a:tr h="776683">
                <a:tc>
                  <a:txBody>
                    <a:bodyPr/>
                    <a:lstStyle/>
                    <a:p>
                      <a:pPr algn="l" fontAlgn="t"/>
                      <a:r>
                        <a:rPr lang="en-US" sz="1200" b="1">
                          <a:solidFill>
                            <a:srgbClr val="1F1F1F"/>
                          </a:solidFill>
                          <a:effectLst/>
                          <a:latin typeface="Google Sans Flex"/>
                        </a:rPr>
                        <a:t>readr</a:t>
                      </a:r>
                      <a:endParaRPr lang="en-US" sz="1200" b="0">
                        <a:solidFill>
                          <a:srgbClr val="1F1F1F"/>
                        </a:solidFill>
                        <a:effectLst/>
                        <a:latin typeface="Google Sans Flex"/>
                      </a:endParaRPr>
                    </a:p>
                  </a:txBody>
                  <a:tcPr marL="59068" marR="59068" marT="98447" marB="98447">
                    <a:lnL>
                      <a:noFill/>
                    </a:lnL>
                    <a:lnR>
                      <a:noFill/>
                    </a:lnR>
                    <a:lnT>
                      <a:noFill/>
                    </a:lnT>
                    <a:lnB w="9525" cap="flat" cmpd="sng" algn="ctr">
                      <a:solidFill>
                        <a:srgbClr val="F0D7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Importing data from CSVs or text files without the headache.</a:t>
                      </a:r>
                    </a:p>
                  </a:txBody>
                  <a:tcPr marL="59068" marR="59068" marT="98447" marB="98447">
                    <a:lnL>
                      <a:noFill/>
                    </a:lnL>
                    <a:lnR>
                      <a:noFill/>
                    </a:lnR>
                    <a:lnT>
                      <a:noFill/>
                    </a:lnT>
                    <a:lnB w="9525" cap="flat" cmpd="sng" algn="ctr">
                      <a:solidFill>
                        <a:srgbClr val="90DD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read_csv()</a:t>
                      </a:r>
                    </a:p>
                  </a:txBody>
                  <a:tcPr marL="59068" marR="59068" marT="98447" marB="98447">
                    <a:lnL>
                      <a:noFill/>
                    </a:lnL>
                    <a:lnR>
                      <a:noFill/>
                    </a:lnR>
                    <a:lnT>
                      <a:noFill/>
                    </a:lnT>
                    <a:lnB w="9525" cap="flat" cmpd="sng" algn="ctr">
                      <a:solidFill>
                        <a:srgbClr val="F0E07B"/>
                      </a:solidFill>
                      <a:prstDash val="solid"/>
                      <a:round/>
                      <a:headEnd type="none" w="med" len="med"/>
                      <a:tailEnd type="none" w="med" len="med"/>
                    </a:lnB>
                    <a:solidFill>
                      <a:srgbClr val="FFFFFF"/>
                    </a:solidFill>
                  </a:tcPr>
                </a:tc>
                <a:extLst>
                  <a:ext uri="{0D108BD9-81ED-4DB2-BD59-A6C34878D82A}">
                    <a16:rowId xmlns:a16="http://schemas.microsoft.com/office/drawing/2014/main" val="648423193"/>
                  </a:ext>
                </a:extLst>
              </a:tr>
              <a:tr h="776683">
                <a:tc>
                  <a:txBody>
                    <a:bodyPr/>
                    <a:lstStyle/>
                    <a:p>
                      <a:pPr algn="l" fontAlgn="t"/>
                      <a:r>
                        <a:rPr lang="en-US" sz="1200" b="1">
                          <a:solidFill>
                            <a:srgbClr val="1F1F1F"/>
                          </a:solidFill>
                          <a:effectLst/>
                          <a:latin typeface="Google Sans Flex"/>
                        </a:rPr>
                        <a:t>dplyr</a:t>
                      </a:r>
                      <a:endParaRPr lang="en-US" sz="1200" b="0">
                        <a:solidFill>
                          <a:srgbClr val="1F1F1F"/>
                        </a:solidFill>
                        <a:effectLst/>
                        <a:latin typeface="Google Sans Flex"/>
                      </a:endParaRPr>
                    </a:p>
                  </a:txBody>
                  <a:tcPr marL="59068" marR="59068" marT="98447" marB="98447">
                    <a:lnL>
                      <a:noFill/>
                    </a:lnL>
                    <a:lnR>
                      <a:noFill/>
                    </a:lnR>
                    <a:lnT w="9525" cap="flat" cmpd="sng" algn="ctr">
                      <a:solidFill>
                        <a:srgbClr val="F0D77B"/>
                      </a:solidFill>
                      <a:prstDash val="solid"/>
                      <a:round/>
                      <a:headEnd type="none" w="med" len="med"/>
                      <a:tailEnd type="none" w="med" len="med"/>
                    </a:lnT>
                    <a:lnB w="9525" cap="flat" cmpd="sng" algn="ctr">
                      <a:solidFill>
                        <a:srgbClr val="70D9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The "Grammar of Data." Used for filtering, sorting, and transforming.</a:t>
                      </a:r>
                    </a:p>
                  </a:txBody>
                  <a:tcPr marL="59068" marR="59068" marT="98447" marB="98447">
                    <a:lnL>
                      <a:noFill/>
                    </a:lnL>
                    <a:lnR>
                      <a:noFill/>
                    </a:lnR>
                    <a:lnT w="9525" cap="flat" cmpd="sng" algn="ctr">
                      <a:solidFill>
                        <a:srgbClr val="90DD7B"/>
                      </a:solidFill>
                      <a:prstDash val="solid"/>
                      <a:round/>
                      <a:headEnd type="none" w="med" len="med"/>
                      <a:tailEnd type="none" w="med" len="med"/>
                    </a:lnT>
                    <a:lnB w="9525" cap="flat" cmpd="sng" algn="ctr">
                      <a:solidFill>
                        <a:srgbClr val="D0D97B"/>
                      </a:solidFill>
                      <a:prstDash val="solid"/>
                      <a:round/>
                      <a:headEnd type="none" w="med" len="med"/>
                      <a:tailEnd type="none" w="med" len="med"/>
                    </a:lnB>
                    <a:solidFill>
                      <a:srgbClr val="FFFFFF"/>
                    </a:solidFill>
                  </a:tcPr>
                </a:tc>
                <a:tc>
                  <a:txBody>
                    <a:bodyPr/>
                    <a:lstStyle/>
                    <a:p>
                      <a:pPr algn="l" fontAlgn="t"/>
                      <a:r>
                        <a:rPr lang="en-US" sz="1200" b="0" dirty="0">
                          <a:solidFill>
                            <a:srgbClr val="1F1F1F"/>
                          </a:solidFill>
                          <a:effectLst/>
                          <a:latin typeface="Google Sans Flex"/>
                        </a:rPr>
                        <a:t>mutate(), filter()</a:t>
                      </a:r>
                    </a:p>
                  </a:txBody>
                  <a:tcPr marL="59068" marR="59068" marT="98447" marB="98447">
                    <a:lnL>
                      <a:noFill/>
                    </a:lnL>
                    <a:lnR>
                      <a:noFill/>
                    </a:lnR>
                    <a:lnT w="9525" cap="flat" cmpd="sng" algn="ctr">
                      <a:solidFill>
                        <a:srgbClr val="F0E07B"/>
                      </a:solidFill>
                      <a:prstDash val="solid"/>
                      <a:round/>
                      <a:headEnd type="none" w="med" len="med"/>
                      <a:tailEnd type="none" w="med" len="med"/>
                    </a:lnT>
                    <a:lnB w="9525" cap="flat" cmpd="sng" algn="ctr">
                      <a:solidFill>
                        <a:srgbClr val="30E37B"/>
                      </a:solidFill>
                      <a:prstDash val="solid"/>
                      <a:round/>
                      <a:headEnd type="none" w="med" len="med"/>
                      <a:tailEnd type="none" w="med" len="med"/>
                    </a:lnB>
                    <a:solidFill>
                      <a:srgbClr val="FFFFFF"/>
                    </a:solidFill>
                  </a:tcPr>
                </a:tc>
                <a:extLst>
                  <a:ext uri="{0D108BD9-81ED-4DB2-BD59-A6C34878D82A}">
                    <a16:rowId xmlns:a16="http://schemas.microsoft.com/office/drawing/2014/main" val="2198515883"/>
                  </a:ext>
                </a:extLst>
              </a:tr>
              <a:tr h="929675">
                <a:tc>
                  <a:txBody>
                    <a:bodyPr/>
                    <a:lstStyle/>
                    <a:p>
                      <a:pPr algn="l" fontAlgn="t"/>
                      <a:r>
                        <a:rPr lang="en-US" sz="1200" b="1">
                          <a:solidFill>
                            <a:srgbClr val="1F1F1F"/>
                          </a:solidFill>
                          <a:effectLst/>
                          <a:latin typeface="Google Sans Flex"/>
                        </a:rPr>
                        <a:t>tidyr</a:t>
                      </a:r>
                      <a:endParaRPr lang="en-US" sz="1200" b="0">
                        <a:solidFill>
                          <a:srgbClr val="1F1F1F"/>
                        </a:solidFill>
                        <a:effectLst/>
                        <a:latin typeface="Google Sans Flex"/>
                      </a:endParaRPr>
                    </a:p>
                  </a:txBody>
                  <a:tcPr marL="59068" marR="59068" marT="98447" marB="98447">
                    <a:lnL>
                      <a:noFill/>
                    </a:lnL>
                    <a:lnR>
                      <a:noFill/>
                    </a:lnR>
                    <a:lnT w="9525" cap="flat" cmpd="sng" algn="ctr">
                      <a:solidFill>
                        <a:srgbClr val="70D97B"/>
                      </a:solidFill>
                      <a:prstDash val="solid"/>
                      <a:round/>
                      <a:headEnd type="none" w="med" len="med"/>
                      <a:tailEnd type="none" w="med" len="med"/>
                    </a:lnT>
                    <a:lnB w="9525" cap="flat" cmpd="sng" algn="ctr">
                      <a:solidFill>
                        <a:srgbClr val="30D4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Cleaning "messy" data into a "tidy" format where every row is an observation.</a:t>
                      </a:r>
                    </a:p>
                  </a:txBody>
                  <a:tcPr marL="59068" marR="59068" marT="98447" marB="98447">
                    <a:lnL>
                      <a:noFill/>
                    </a:lnL>
                    <a:lnR>
                      <a:noFill/>
                    </a:lnR>
                    <a:lnT w="9525" cap="flat" cmpd="sng" algn="ctr">
                      <a:solidFill>
                        <a:srgbClr val="D0D97B"/>
                      </a:solidFill>
                      <a:prstDash val="solid"/>
                      <a:round/>
                      <a:headEnd type="none" w="med" len="med"/>
                      <a:tailEnd type="none" w="med" len="med"/>
                    </a:lnT>
                    <a:lnB w="9525" cap="flat" cmpd="sng" algn="ctr">
                      <a:solidFill>
                        <a:srgbClr val="F0D7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pivot_longer()</a:t>
                      </a:r>
                    </a:p>
                  </a:txBody>
                  <a:tcPr marL="59068" marR="59068" marT="98447" marB="98447">
                    <a:lnL>
                      <a:noFill/>
                    </a:lnL>
                    <a:lnR>
                      <a:noFill/>
                    </a:lnR>
                    <a:lnT w="9525" cap="flat" cmpd="sng" algn="ctr">
                      <a:solidFill>
                        <a:srgbClr val="30E37B"/>
                      </a:solidFill>
                      <a:prstDash val="solid"/>
                      <a:round/>
                      <a:headEnd type="none" w="med" len="med"/>
                      <a:tailEnd type="none" w="med" len="med"/>
                    </a:lnT>
                    <a:lnB w="9525" cap="flat" cmpd="sng" algn="ctr">
                      <a:solidFill>
                        <a:srgbClr val="D0D97B"/>
                      </a:solidFill>
                      <a:prstDash val="solid"/>
                      <a:round/>
                      <a:headEnd type="none" w="med" len="med"/>
                      <a:tailEnd type="none" w="med" len="med"/>
                    </a:lnB>
                    <a:solidFill>
                      <a:srgbClr val="FFFFFF"/>
                    </a:solidFill>
                  </a:tcPr>
                </a:tc>
                <a:extLst>
                  <a:ext uri="{0D108BD9-81ED-4DB2-BD59-A6C34878D82A}">
                    <a16:rowId xmlns:a16="http://schemas.microsoft.com/office/drawing/2014/main" val="3598244039"/>
                  </a:ext>
                </a:extLst>
              </a:tr>
              <a:tr h="623691">
                <a:tc>
                  <a:txBody>
                    <a:bodyPr/>
                    <a:lstStyle/>
                    <a:p>
                      <a:pPr algn="l" fontAlgn="t"/>
                      <a:r>
                        <a:rPr lang="en-US" sz="1200" b="1">
                          <a:solidFill>
                            <a:srgbClr val="1F1F1F"/>
                          </a:solidFill>
                          <a:effectLst/>
                          <a:latin typeface="Google Sans Flex"/>
                        </a:rPr>
                        <a:t>ggplot2</a:t>
                      </a:r>
                      <a:endParaRPr lang="en-US" sz="1200" b="0">
                        <a:solidFill>
                          <a:srgbClr val="1F1F1F"/>
                        </a:solidFill>
                        <a:effectLst/>
                        <a:latin typeface="Google Sans Flex"/>
                      </a:endParaRPr>
                    </a:p>
                  </a:txBody>
                  <a:tcPr marL="59068" marR="59068" marT="98447" marB="98447">
                    <a:lnL>
                      <a:noFill/>
                    </a:lnL>
                    <a:lnR>
                      <a:noFill/>
                    </a:lnR>
                    <a:lnT w="9525" cap="flat" cmpd="sng" algn="ctr">
                      <a:solidFill>
                        <a:srgbClr val="30D47B"/>
                      </a:solidFill>
                      <a:prstDash val="solid"/>
                      <a:round/>
                      <a:headEnd type="none" w="med" len="med"/>
                      <a:tailEnd type="none" w="med" len="med"/>
                    </a:lnT>
                    <a:lnB w="9525" cap="flat" cmpd="sng" algn="ctr">
                      <a:solidFill>
                        <a:srgbClr val="D0D97B"/>
                      </a:solidFill>
                      <a:prstDash val="solid"/>
                      <a:round/>
                      <a:headEnd type="none" w="med" len="med"/>
                      <a:tailEnd type="none" w="med" len="med"/>
                    </a:lnB>
                    <a:solidFill>
                      <a:srgbClr val="FFFFFF"/>
                    </a:solidFill>
                  </a:tcPr>
                </a:tc>
                <a:tc>
                  <a:txBody>
                    <a:bodyPr/>
                    <a:lstStyle/>
                    <a:p>
                      <a:pPr algn="l" fontAlgn="t"/>
                      <a:r>
                        <a:rPr lang="en-US" sz="1200" b="0" dirty="0">
                          <a:solidFill>
                            <a:srgbClr val="1F1F1F"/>
                          </a:solidFill>
                          <a:effectLst/>
                          <a:latin typeface="Google Sans Flex"/>
                        </a:rPr>
                        <a:t>Creating stunning, publication-quality </a:t>
                      </a:r>
                      <a:r>
                        <a:rPr lang="en-US" sz="1200" b="0" dirty="0" err="1">
                          <a:solidFill>
                            <a:srgbClr val="1F1F1F"/>
                          </a:solidFill>
                          <a:effectLst/>
                          <a:latin typeface="Google Sans Flex"/>
                        </a:rPr>
                        <a:t>visualisations</a:t>
                      </a:r>
                      <a:r>
                        <a:rPr lang="en-US" sz="1200" b="0" dirty="0">
                          <a:solidFill>
                            <a:srgbClr val="1F1F1F"/>
                          </a:solidFill>
                          <a:effectLst/>
                          <a:latin typeface="Google Sans Flex"/>
                        </a:rPr>
                        <a:t>.</a:t>
                      </a:r>
                    </a:p>
                  </a:txBody>
                  <a:tcPr marL="59068" marR="59068" marT="98447" marB="98447">
                    <a:lnL>
                      <a:noFill/>
                    </a:lnL>
                    <a:lnR>
                      <a:noFill/>
                    </a:lnR>
                    <a:lnT w="9525" cap="flat" cmpd="sng" algn="ctr">
                      <a:solidFill>
                        <a:srgbClr val="F0D77B"/>
                      </a:solidFill>
                      <a:prstDash val="solid"/>
                      <a:round/>
                      <a:headEnd type="none" w="med" len="med"/>
                      <a:tailEnd type="none" w="med" len="med"/>
                    </a:lnT>
                    <a:lnB w="9525" cap="flat" cmpd="sng" algn="ctr">
                      <a:solidFill>
                        <a:srgbClr val="B0D2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ggplot()</a:t>
                      </a:r>
                    </a:p>
                  </a:txBody>
                  <a:tcPr marL="59068" marR="59068" marT="98447" marB="98447">
                    <a:lnL>
                      <a:noFill/>
                    </a:lnL>
                    <a:lnR>
                      <a:noFill/>
                    </a:lnR>
                    <a:lnT w="9525" cap="flat" cmpd="sng" algn="ctr">
                      <a:solidFill>
                        <a:srgbClr val="D0D97B"/>
                      </a:solidFill>
                      <a:prstDash val="solid"/>
                      <a:round/>
                      <a:headEnd type="none" w="med" len="med"/>
                      <a:tailEnd type="none" w="med" len="med"/>
                    </a:lnT>
                    <a:lnB w="9525" cap="flat" cmpd="sng" algn="ctr">
                      <a:solidFill>
                        <a:srgbClr val="D0DF7B"/>
                      </a:solidFill>
                      <a:prstDash val="solid"/>
                      <a:round/>
                      <a:headEnd type="none" w="med" len="med"/>
                      <a:tailEnd type="none" w="med" len="med"/>
                    </a:lnB>
                    <a:solidFill>
                      <a:srgbClr val="FFFFFF"/>
                    </a:solidFill>
                  </a:tcPr>
                </a:tc>
                <a:extLst>
                  <a:ext uri="{0D108BD9-81ED-4DB2-BD59-A6C34878D82A}">
                    <a16:rowId xmlns:a16="http://schemas.microsoft.com/office/drawing/2014/main" val="1786629628"/>
                  </a:ext>
                </a:extLst>
              </a:tr>
              <a:tr h="776683">
                <a:tc>
                  <a:txBody>
                    <a:bodyPr/>
                    <a:lstStyle/>
                    <a:p>
                      <a:pPr algn="l" fontAlgn="t"/>
                      <a:r>
                        <a:rPr lang="en-US" sz="1200" b="1">
                          <a:solidFill>
                            <a:srgbClr val="1F1F1F"/>
                          </a:solidFill>
                          <a:effectLst/>
                          <a:latin typeface="Google Sans Flex"/>
                        </a:rPr>
                        <a:t>stringr</a:t>
                      </a:r>
                      <a:endParaRPr lang="en-US" sz="1200" b="0">
                        <a:solidFill>
                          <a:srgbClr val="1F1F1F"/>
                        </a:solidFill>
                        <a:effectLst/>
                        <a:latin typeface="Google Sans Flex"/>
                      </a:endParaRPr>
                    </a:p>
                  </a:txBody>
                  <a:tcPr marL="59068" marR="59068" marT="98447" marB="98447">
                    <a:lnL>
                      <a:noFill/>
                    </a:lnL>
                    <a:lnR>
                      <a:noFill/>
                    </a:lnR>
                    <a:lnT w="9525" cap="flat" cmpd="sng" algn="ctr">
                      <a:solidFill>
                        <a:srgbClr val="D0D97B"/>
                      </a:solidFill>
                      <a:prstDash val="solid"/>
                      <a:round/>
                      <a:headEnd type="none" w="med" len="med"/>
                      <a:tailEnd type="none" w="med" len="med"/>
                    </a:lnT>
                    <a:lnB w="9525" cap="flat" cmpd="sng" algn="ctr">
                      <a:solidFill>
                        <a:srgbClr val="D0D07B"/>
                      </a:solidFill>
                      <a:prstDash val="solid"/>
                      <a:round/>
                      <a:headEnd type="none" w="med" len="med"/>
                      <a:tailEnd type="none" w="med" len="med"/>
                    </a:lnB>
                    <a:solidFill>
                      <a:srgbClr val="FFFFFF"/>
                    </a:solidFill>
                  </a:tcPr>
                </a:tc>
                <a:tc>
                  <a:txBody>
                    <a:bodyPr/>
                    <a:lstStyle/>
                    <a:p>
                      <a:pPr algn="l" fontAlgn="t"/>
                      <a:r>
                        <a:rPr lang="en-US" sz="1200" b="0">
                          <a:solidFill>
                            <a:srgbClr val="1F1F1F"/>
                          </a:solidFill>
                          <a:effectLst/>
                          <a:latin typeface="Google Sans Flex"/>
                        </a:rPr>
                        <a:t>Working with text (searching, replacing, or trimming strings).</a:t>
                      </a:r>
                    </a:p>
                  </a:txBody>
                  <a:tcPr marL="59068" marR="59068" marT="98447" marB="98447">
                    <a:lnL>
                      <a:noFill/>
                    </a:lnL>
                    <a:lnR>
                      <a:noFill/>
                    </a:lnR>
                    <a:lnT w="9525" cap="flat" cmpd="sng" algn="ctr">
                      <a:solidFill>
                        <a:srgbClr val="B0D27B"/>
                      </a:solidFill>
                      <a:prstDash val="solid"/>
                      <a:round/>
                      <a:headEnd type="none" w="med" len="med"/>
                      <a:tailEnd type="none" w="med" len="med"/>
                    </a:lnT>
                    <a:lnB w="9525" cap="flat" cmpd="sng" algn="ctr">
                      <a:solidFill>
                        <a:srgbClr val="90E07B"/>
                      </a:solidFill>
                      <a:prstDash val="solid"/>
                      <a:round/>
                      <a:headEnd type="none" w="med" len="med"/>
                      <a:tailEnd type="none" w="med" len="med"/>
                    </a:lnB>
                    <a:solidFill>
                      <a:srgbClr val="FFFFFF"/>
                    </a:solidFill>
                  </a:tcPr>
                </a:tc>
                <a:tc>
                  <a:txBody>
                    <a:bodyPr/>
                    <a:lstStyle/>
                    <a:p>
                      <a:pPr algn="l" fontAlgn="t"/>
                      <a:r>
                        <a:rPr lang="en-US" sz="1200" b="0" dirty="0" err="1">
                          <a:solidFill>
                            <a:srgbClr val="1F1F1F"/>
                          </a:solidFill>
                          <a:effectLst/>
                          <a:latin typeface="Google Sans Flex"/>
                        </a:rPr>
                        <a:t>str_detect</a:t>
                      </a:r>
                      <a:r>
                        <a:rPr lang="en-US" sz="1200" b="0" dirty="0">
                          <a:solidFill>
                            <a:srgbClr val="1F1F1F"/>
                          </a:solidFill>
                          <a:effectLst/>
                          <a:latin typeface="Google Sans Flex"/>
                        </a:rPr>
                        <a:t>()</a:t>
                      </a:r>
                    </a:p>
                  </a:txBody>
                  <a:tcPr marL="59068" marR="59068" marT="98447" marB="98447">
                    <a:lnL>
                      <a:noFill/>
                    </a:lnL>
                    <a:lnR>
                      <a:noFill/>
                    </a:lnR>
                    <a:lnT w="9525" cap="flat" cmpd="sng" algn="ctr">
                      <a:solidFill>
                        <a:srgbClr val="D0DF7B"/>
                      </a:solidFill>
                      <a:prstDash val="solid"/>
                      <a:round/>
                      <a:headEnd type="none" w="med" len="med"/>
                      <a:tailEnd type="none" w="med" len="med"/>
                    </a:lnT>
                    <a:lnB w="9525" cap="flat" cmpd="sng" algn="ctr">
                      <a:solidFill>
                        <a:srgbClr val="70D37B"/>
                      </a:solidFill>
                      <a:prstDash val="solid"/>
                      <a:round/>
                      <a:headEnd type="none" w="med" len="med"/>
                      <a:tailEnd type="none" w="med" len="med"/>
                    </a:lnB>
                    <a:solidFill>
                      <a:srgbClr val="FFFFFF"/>
                    </a:solidFill>
                  </a:tcPr>
                </a:tc>
                <a:extLst>
                  <a:ext uri="{0D108BD9-81ED-4DB2-BD59-A6C34878D82A}">
                    <a16:rowId xmlns:a16="http://schemas.microsoft.com/office/drawing/2014/main" val="3559163364"/>
                  </a:ext>
                </a:extLst>
              </a:tr>
            </a:tbl>
          </a:graphicData>
        </a:graphic>
      </p:graphicFrame>
      <p:sp>
        <p:nvSpPr>
          <p:cNvPr id="11" name="TextBox 10">
            <a:extLst>
              <a:ext uri="{FF2B5EF4-FFF2-40B4-BE49-F238E27FC236}">
                <a16:creationId xmlns:a16="http://schemas.microsoft.com/office/drawing/2014/main" id="{F7B233F5-1FAF-0E36-17EE-4E6FFF26BC0B}"/>
              </a:ext>
            </a:extLst>
          </p:cNvPr>
          <p:cNvSpPr txBox="1"/>
          <p:nvPr/>
        </p:nvSpPr>
        <p:spPr>
          <a:xfrm>
            <a:off x="7257464" y="2665687"/>
            <a:ext cx="3934277" cy="2308324"/>
          </a:xfrm>
          <a:prstGeom prst="rect">
            <a:avLst/>
          </a:prstGeom>
          <a:noFill/>
        </p:spPr>
        <p:txBody>
          <a:bodyPr wrap="square" rtlCol="0">
            <a:spAutoFit/>
          </a:bodyPr>
          <a:lstStyle/>
          <a:p>
            <a:r>
              <a:rPr lang="en-US" dirty="0"/>
              <a:t>You only have to install a package once per machine;</a:t>
            </a:r>
          </a:p>
          <a:p>
            <a:endParaRPr lang="en-US" dirty="0"/>
          </a:p>
          <a:p>
            <a:r>
              <a:rPr lang="en-US" dirty="0" err="1"/>
              <a:t>Install.packages</a:t>
            </a:r>
            <a:r>
              <a:rPr lang="en-US" dirty="0"/>
              <a:t>(“</a:t>
            </a:r>
            <a:r>
              <a:rPr lang="en-US" dirty="0" err="1"/>
              <a:t>tidyverse</a:t>
            </a:r>
            <a:r>
              <a:rPr lang="en-US" dirty="0"/>
              <a:t>”)</a:t>
            </a:r>
          </a:p>
          <a:p>
            <a:endParaRPr lang="en-US" dirty="0"/>
          </a:p>
          <a:p>
            <a:r>
              <a:rPr lang="en-US" dirty="0"/>
              <a:t>Then you open them at the top of every script;</a:t>
            </a:r>
          </a:p>
          <a:p>
            <a:r>
              <a:rPr lang="en-US" dirty="0"/>
              <a:t>library(</a:t>
            </a:r>
            <a:r>
              <a:rPr lang="en-US" dirty="0" err="1"/>
              <a:t>tidyverse</a:t>
            </a:r>
            <a:r>
              <a:rPr lang="en-US" dirty="0"/>
              <a:t>)</a:t>
            </a:r>
          </a:p>
        </p:txBody>
      </p:sp>
    </p:spTree>
    <p:extLst>
      <p:ext uri="{BB962C8B-B14F-4D97-AF65-F5344CB8AC3E}">
        <p14:creationId xmlns:p14="http://schemas.microsoft.com/office/powerpoint/2010/main" val="8675491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3900669" y="103136"/>
            <a:ext cx="439075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What’s going on in this dataset?</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299725" y="103135"/>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5851295" y="103136"/>
            <a:ext cx="4873450"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could I do about missing data</a:t>
            </a:r>
          </a:p>
        </p:txBody>
      </p:sp>
      <p:graphicFrame>
        <p:nvGraphicFramePr>
          <p:cNvPr id="11" name="Table 10">
            <a:extLst>
              <a:ext uri="{FF2B5EF4-FFF2-40B4-BE49-F238E27FC236}">
                <a16:creationId xmlns:a16="http://schemas.microsoft.com/office/drawing/2014/main" id="{C221F5DF-5E62-2A1C-354E-223BD9077939}"/>
              </a:ext>
            </a:extLst>
          </p:cNvPr>
          <p:cNvGraphicFramePr>
            <a:graphicFrameLocks noGrp="1"/>
          </p:cNvGraphicFramePr>
          <p:nvPr>
            <p:extLst>
              <p:ext uri="{D42A27DB-BD31-4B8C-83A1-F6EECF244321}">
                <p14:modId xmlns:p14="http://schemas.microsoft.com/office/powerpoint/2010/main" val="3144671460"/>
              </p:ext>
            </p:extLst>
          </p:nvPr>
        </p:nvGraphicFramePr>
        <p:xfrm>
          <a:off x="2032000" y="2493286"/>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28327745"/>
                    </a:ext>
                  </a:extLst>
                </a:gridCol>
                <a:gridCol w="2032000">
                  <a:extLst>
                    <a:ext uri="{9D8B030D-6E8A-4147-A177-3AD203B41FA5}">
                      <a16:colId xmlns:a16="http://schemas.microsoft.com/office/drawing/2014/main" val="1536712801"/>
                    </a:ext>
                  </a:extLst>
                </a:gridCol>
                <a:gridCol w="2032000">
                  <a:extLst>
                    <a:ext uri="{9D8B030D-6E8A-4147-A177-3AD203B41FA5}">
                      <a16:colId xmlns:a16="http://schemas.microsoft.com/office/drawing/2014/main" val="1993599282"/>
                    </a:ext>
                  </a:extLst>
                </a:gridCol>
                <a:gridCol w="2032000">
                  <a:extLst>
                    <a:ext uri="{9D8B030D-6E8A-4147-A177-3AD203B41FA5}">
                      <a16:colId xmlns:a16="http://schemas.microsoft.com/office/drawing/2014/main" val="3178455241"/>
                    </a:ext>
                  </a:extLst>
                </a:gridCol>
              </a:tblGrid>
              <a:tr h="370840">
                <a:tc>
                  <a:txBody>
                    <a:bodyPr/>
                    <a:lstStyle/>
                    <a:p>
                      <a:r>
                        <a:rPr lang="en-US" dirty="0"/>
                        <a:t>Name</a:t>
                      </a:r>
                    </a:p>
                  </a:txBody>
                  <a:tcPr/>
                </a:tc>
                <a:tc>
                  <a:txBody>
                    <a:bodyPr/>
                    <a:lstStyle/>
                    <a:p>
                      <a:r>
                        <a:rPr lang="en-US" dirty="0"/>
                        <a:t>Score</a:t>
                      </a:r>
                    </a:p>
                  </a:txBody>
                  <a:tcPr/>
                </a:tc>
                <a:tc>
                  <a:txBody>
                    <a:bodyPr/>
                    <a:lstStyle/>
                    <a:p>
                      <a:r>
                        <a:rPr lang="en-US" dirty="0"/>
                        <a:t>Subject</a:t>
                      </a:r>
                    </a:p>
                  </a:txBody>
                  <a:tcPr/>
                </a:tc>
                <a:tc>
                  <a:txBody>
                    <a:bodyPr/>
                    <a:lstStyle/>
                    <a:p>
                      <a:r>
                        <a:rPr lang="en-US" dirty="0"/>
                        <a:t>Attendance</a:t>
                      </a:r>
                    </a:p>
                  </a:txBody>
                  <a:tcPr/>
                </a:tc>
                <a:extLst>
                  <a:ext uri="{0D108BD9-81ED-4DB2-BD59-A6C34878D82A}">
                    <a16:rowId xmlns:a16="http://schemas.microsoft.com/office/drawing/2014/main" val="4116318403"/>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2284626178"/>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7594488"/>
                  </a:ext>
                </a:extLst>
              </a:tr>
              <a:tr h="370840">
                <a:tc>
                  <a:txBody>
                    <a:bodyPr/>
                    <a:lstStyle/>
                    <a:p>
                      <a:r>
                        <a:rPr lang="en-US" dirty="0"/>
                        <a:t>Sarah</a:t>
                      </a:r>
                    </a:p>
                  </a:txBody>
                  <a:tcPr/>
                </a:tc>
                <a:tc>
                  <a:txBody>
                    <a:bodyPr/>
                    <a:lstStyle/>
                    <a:p>
                      <a:r>
                        <a:rPr lang="en-US" dirty="0"/>
                        <a:t>NA</a:t>
                      </a:r>
                    </a:p>
                  </a:txBody>
                  <a:tcPr/>
                </a:tc>
                <a:tc>
                  <a:txBody>
                    <a:bodyPr/>
                    <a:lstStyle/>
                    <a:p>
                      <a:r>
                        <a:rPr lang="en-US" dirty="0"/>
                        <a:t>English</a:t>
                      </a:r>
                    </a:p>
                  </a:txBody>
                  <a:tcPr/>
                </a:tc>
                <a:tc>
                  <a:txBody>
                    <a:bodyPr/>
                    <a:lstStyle/>
                    <a:p>
                      <a:r>
                        <a:rPr lang="en-US" dirty="0"/>
                        <a:t>85%</a:t>
                      </a:r>
                    </a:p>
                  </a:txBody>
                  <a:tcPr/>
                </a:tc>
                <a:extLst>
                  <a:ext uri="{0D108BD9-81ED-4DB2-BD59-A6C34878D82A}">
                    <a16:rowId xmlns:a16="http://schemas.microsoft.com/office/drawing/2014/main" val="654150653"/>
                  </a:ext>
                </a:extLst>
              </a:tr>
              <a:tr h="370840">
                <a:tc>
                  <a:txBody>
                    <a:bodyPr/>
                    <a:lstStyle/>
                    <a:p>
                      <a:r>
                        <a:rPr lang="en-US" dirty="0"/>
                        <a:t>Jane</a:t>
                      </a:r>
                    </a:p>
                  </a:txBody>
                  <a:tcPr/>
                </a:tc>
                <a:tc>
                  <a:txBody>
                    <a:bodyPr/>
                    <a:lstStyle/>
                    <a:p>
                      <a:r>
                        <a:rPr lang="en-US" dirty="0"/>
                        <a:t>88</a:t>
                      </a:r>
                    </a:p>
                  </a:txBody>
                  <a:tcPr/>
                </a:tc>
                <a:tc>
                  <a:txBody>
                    <a:bodyPr/>
                    <a:lstStyle/>
                    <a:p>
                      <a:r>
                        <a:rPr lang="en-US" dirty="0"/>
                        <a:t>Eng</a:t>
                      </a:r>
                    </a:p>
                  </a:txBody>
                  <a:tcPr/>
                </a:tc>
                <a:tc>
                  <a:txBody>
                    <a:bodyPr/>
                    <a:lstStyle/>
                    <a:p>
                      <a:endParaRPr lang="en-US" dirty="0"/>
                    </a:p>
                  </a:txBody>
                  <a:tcPr/>
                </a:tc>
                <a:extLst>
                  <a:ext uri="{0D108BD9-81ED-4DB2-BD59-A6C34878D82A}">
                    <a16:rowId xmlns:a16="http://schemas.microsoft.com/office/drawing/2014/main" val="3483369448"/>
                  </a:ext>
                </a:extLst>
              </a:tr>
              <a:tr h="370840">
                <a:tc>
                  <a:txBody>
                    <a:bodyPr/>
                    <a:lstStyle/>
                    <a:p>
                      <a:r>
                        <a:rPr lang="en-US" dirty="0"/>
                        <a:t>mike</a:t>
                      </a:r>
                    </a:p>
                  </a:txBody>
                  <a:tcPr/>
                </a:tc>
                <a:tc>
                  <a:txBody>
                    <a:bodyPr/>
                    <a:lstStyle/>
                    <a:p>
                      <a:r>
                        <a:rPr lang="en-US" dirty="0"/>
                        <a:t>92</a:t>
                      </a:r>
                    </a:p>
                  </a:txBody>
                  <a:tcPr/>
                </a:tc>
                <a:tc>
                  <a:txBody>
                    <a:bodyPr/>
                    <a:lstStyle/>
                    <a:p>
                      <a:r>
                        <a:rPr lang="en-US" dirty="0" err="1"/>
                        <a:t>Maths</a:t>
                      </a:r>
                      <a:endParaRPr lang="en-US" dirty="0"/>
                    </a:p>
                  </a:txBody>
                  <a:tcPr/>
                </a:tc>
                <a:tc>
                  <a:txBody>
                    <a:bodyPr/>
                    <a:lstStyle/>
                    <a:p>
                      <a:r>
                        <a:rPr lang="en-US" dirty="0"/>
                        <a:t>95%</a:t>
                      </a:r>
                    </a:p>
                  </a:txBody>
                  <a:tcPr/>
                </a:tc>
                <a:extLst>
                  <a:ext uri="{0D108BD9-81ED-4DB2-BD59-A6C34878D82A}">
                    <a16:rowId xmlns:a16="http://schemas.microsoft.com/office/drawing/2014/main" val="2692828319"/>
                  </a:ext>
                </a:extLst>
              </a:tr>
            </a:tbl>
          </a:graphicData>
        </a:graphic>
      </p:graphicFrame>
      <p:sp>
        <p:nvSpPr>
          <p:cNvPr id="13" name="TextBox 12">
            <a:extLst>
              <a:ext uri="{FF2B5EF4-FFF2-40B4-BE49-F238E27FC236}">
                <a16:creationId xmlns:a16="http://schemas.microsoft.com/office/drawing/2014/main" id="{DC77A9A0-5E48-2FC3-F421-B5EE9235BD69}"/>
              </a:ext>
            </a:extLst>
          </p:cNvPr>
          <p:cNvSpPr txBox="1"/>
          <p:nvPr/>
        </p:nvSpPr>
        <p:spPr>
          <a:xfrm>
            <a:off x="2761343" y="1400406"/>
            <a:ext cx="6669315" cy="923330"/>
          </a:xfrm>
          <a:prstGeom prst="rect">
            <a:avLst/>
          </a:prstGeom>
          <a:noFill/>
        </p:spPr>
        <p:txBody>
          <a:bodyPr wrap="square">
            <a:spAutoFit/>
          </a:bodyPr>
          <a:lstStyle/>
          <a:p>
            <a:pPr algn="ctr"/>
            <a:r>
              <a:rPr lang="en-GB" dirty="0">
                <a:solidFill>
                  <a:srgbClr val="000000"/>
                </a:solidFill>
                <a:latin typeface="Times New Roman" panose="02020603050405020304" pitchFamily="18" charset="0"/>
                <a:cs typeface="Times New Roman" panose="02020603050405020304" pitchFamily="18" charset="0"/>
              </a:rPr>
              <a:t>You are working at a college, the head of department asks you to analyse student performance and work out on average which subject students are scoring better in. You are given this dataset:</a:t>
            </a:r>
          </a:p>
        </p:txBody>
      </p:sp>
      <p:sp>
        <p:nvSpPr>
          <p:cNvPr id="14" name="TextBox 13">
            <a:extLst>
              <a:ext uri="{FF2B5EF4-FFF2-40B4-BE49-F238E27FC236}">
                <a16:creationId xmlns:a16="http://schemas.microsoft.com/office/drawing/2014/main" id="{B5AD5E61-FFD8-D401-BB2D-358B64D5FED7}"/>
              </a:ext>
            </a:extLst>
          </p:cNvPr>
          <p:cNvSpPr txBox="1"/>
          <p:nvPr/>
        </p:nvSpPr>
        <p:spPr>
          <a:xfrm>
            <a:off x="2761343" y="5164873"/>
            <a:ext cx="6669315" cy="646331"/>
          </a:xfrm>
          <a:prstGeom prst="rect">
            <a:avLst/>
          </a:prstGeom>
          <a:noFill/>
        </p:spPr>
        <p:txBody>
          <a:bodyPr wrap="square">
            <a:spAutoFit/>
          </a:bodyPr>
          <a:lstStyle/>
          <a:p>
            <a:pPr algn="ctr"/>
            <a:r>
              <a:rPr lang="en-GB" dirty="0">
                <a:solidFill>
                  <a:srgbClr val="000000"/>
                </a:solidFill>
                <a:latin typeface="Times New Roman" panose="02020603050405020304" pitchFamily="18" charset="0"/>
                <a:cs typeface="Times New Roman" panose="02020603050405020304" pitchFamily="18" charset="0"/>
              </a:rPr>
              <a:t>What problems can you see?</a:t>
            </a:r>
          </a:p>
          <a:p>
            <a:pPr algn="ctr"/>
            <a:r>
              <a:rPr lang="en-GB" dirty="0">
                <a:solidFill>
                  <a:srgbClr val="000000"/>
                </a:solidFill>
                <a:latin typeface="Times New Roman" panose="02020603050405020304" pitchFamily="18" charset="0"/>
                <a:cs typeface="Times New Roman" panose="02020603050405020304" pitchFamily="18" charset="0"/>
              </a:rPr>
              <a:t>What might go wrong if we analyse this?</a:t>
            </a:r>
          </a:p>
        </p:txBody>
      </p:sp>
    </p:spTree>
    <p:extLst>
      <p:ext uri="{BB962C8B-B14F-4D97-AF65-F5344CB8AC3E}">
        <p14:creationId xmlns:p14="http://schemas.microsoft.com/office/powerpoint/2010/main" val="37864219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3659328" y="103136"/>
            <a:ext cx="4873450"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could I do about missing data</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7355302" y="103135"/>
            <a:ext cx="2518638"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will I need?</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574908" y="103136"/>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graphicFrame>
        <p:nvGraphicFramePr>
          <p:cNvPr id="15" name="Table 14">
            <a:extLst>
              <a:ext uri="{FF2B5EF4-FFF2-40B4-BE49-F238E27FC236}">
                <a16:creationId xmlns:a16="http://schemas.microsoft.com/office/drawing/2014/main" id="{A38E8528-EFFC-8BCF-4AE5-A524DB555207}"/>
              </a:ext>
            </a:extLst>
          </p:cNvPr>
          <p:cNvGraphicFramePr>
            <a:graphicFrameLocks noGrp="1"/>
          </p:cNvGraphicFramePr>
          <p:nvPr>
            <p:extLst>
              <p:ext uri="{D42A27DB-BD31-4B8C-83A1-F6EECF244321}">
                <p14:modId xmlns:p14="http://schemas.microsoft.com/office/powerpoint/2010/main" val="1116970156"/>
              </p:ext>
            </p:extLst>
          </p:nvPr>
        </p:nvGraphicFramePr>
        <p:xfrm>
          <a:off x="2032000" y="7128455"/>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28327745"/>
                    </a:ext>
                  </a:extLst>
                </a:gridCol>
                <a:gridCol w="2032000">
                  <a:extLst>
                    <a:ext uri="{9D8B030D-6E8A-4147-A177-3AD203B41FA5}">
                      <a16:colId xmlns:a16="http://schemas.microsoft.com/office/drawing/2014/main" val="1536712801"/>
                    </a:ext>
                  </a:extLst>
                </a:gridCol>
                <a:gridCol w="2032000">
                  <a:extLst>
                    <a:ext uri="{9D8B030D-6E8A-4147-A177-3AD203B41FA5}">
                      <a16:colId xmlns:a16="http://schemas.microsoft.com/office/drawing/2014/main" val="1993599282"/>
                    </a:ext>
                  </a:extLst>
                </a:gridCol>
                <a:gridCol w="2032000">
                  <a:extLst>
                    <a:ext uri="{9D8B030D-6E8A-4147-A177-3AD203B41FA5}">
                      <a16:colId xmlns:a16="http://schemas.microsoft.com/office/drawing/2014/main" val="3178455241"/>
                    </a:ext>
                  </a:extLst>
                </a:gridCol>
              </a:tblGrid>
              <a:tr h="370840">
                <a:tc>
                  <a:txBody>
                    <a:bodyPr/>
                    <a:lstStyle/>
                    <a:p>
                      <a:r>
                        <a:rPr lang="en-US" dirty="0"/>
                        <a:t>Name</a:t>
                      </a:r>
                    </a:p>
                  </a:txBody>
                  <a:tcPr/>
                </a:tc>
                <a:tc>
                  <a:txBody>
                    <a:bodyPr/>
                    <a:lstStyle/>
                    <a:p>
                      <a:r>
                        <a:rPr lang="en-US" dirty="0"/>
                        <a:t>Score</a:t>
                      </a:r>
                    </a:p>
                  </a:txBody>
                  <a:tcPr/>
                </a:tc>
                <a:tc>
                  <a:txBody>
                    <a:bodyPr/>
                    <a:lstStyle/>
                    <a:p>
                      <a:r>
                        <a:rPr lang="en-US" dirty="0"/>
                        <a:t>Subject</a:t>
                      </a:r>
                    </a:p>
                  </a:txBody>
                  <a:tcPr/>
                </a:tc>
                <a:tc>
                  <a:txBody>
                    <a:bodyPr/>
                    <a:lstStyle/>
                    <a:p>
                      <a:r>
                        <a:rPr lang="en-US" dirty="0"/>
                        <a:t>Attendance</a:t>
                      </a:r>
                    </a:p>
                  </a:txBody>
                  <a:tcPr/>
                </a:tc>
                <a:extLst>
                  <a:ext uri="{0D108BD9-81ED-4DB2-BD59-A6C34878D82A}">
                    <a16:rowId xmlns:a16="http://schemas.microsoft.com/office/drawing/2014/main" val="4116318403"/>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2284626178"/>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7594488"/>
                  </a:ext>
                </a:extLst>
              </a:tr>
              <a:tr h="370840">
                <a:tc>
                  <a:txBody>
                    <a:bodyPr/>
                    <a:lstStyle/>
                    <a:p>
                      <a:r>
                        <a:rPr lang="en-US" dirty="0"/>
                        <a:t>Sarah</a:t>
                      </a:r>
                    </a:p>
                  </a:txBody>
                  <a:tcPr/>
                </a:tc>
                <a:tc>
                  <a:txBody>
                    <a:bodyPr/>
                    <a:lstStyle/>
                    <a:p>
                      <a:r>
                        <a:rPr lang="en-US" dirty="0"/>
                        <a:t>NA</a:t>
                      </a:r>
                    </a:p>
                  </a:txBody>
                  <a:tcPr/>
                </a:tc>
                <a:tc>
                  <a:txBody>
                    <a:bodyPr/>
                    <a:lstStyle/>
                    <a:p>
                      <a:r>
                        <a:rPr lang="en-US" dirty="0"/>
                        <a:t>English</a:t>
                      </a:r>
                    </a:p>
                  </a:txBody>
                  <a:tcPr/>
                </a:tc>
                <a:tc>
                  <a:txBody>
                    <a:bodyPr/>
                    <a:lstStyle/>
                    <a:p>
                      <a:r>
                        <a:rPr lang="en-US" dirty="0"/>
                        <a:t>85%</a:t>
                      </a:r>
                    </a:p>
                  </a:txBody>
                  <a:tcPr/>
                </a:tc>
                <a:extLst>
                  <a:ext uri="{0D108BD9-81ED-4DB2-BD59-A6C34878D82A}">
                    <a16:rowId xmlns:a16="http://schemas.microsoft.com/office/drawing/2014/main" val="654150653"/>
                  </a:ext>
                </a:extLst>
              </a:tr>
              <a:tr h="370840">
                <a:tc>
                  <a:txBody>
                    <a:bodyPr/>
                    <a:lstStyle/>
                    <a:p>
                      <a:r>
                        <a:rPr lang="en-US" dirty="0"/>
                        <a:t>Jane</a:t>
                      </a:r>
                    </a:p>
                  </a:txBody>
                  <a:tcPr/>
                </a:tc>
                <a:tc>
                  <a:txBody>
                    <a:bodyPr/>
                    <a:lstStyle/>
                    <a:p>
                      <a:r>
                        <a:rPr lang="en-US" dirty="0"/>
                        <a:t>88</a:t>
                      </a:r>
                    </a:p>
                  </a:txBody>
                  <a:tcPr/>
                </a:tc>
                <a:tc>
                  <a:txBody>
                    <a:bodyPr/>
                    <a:lstStyle/>
                    <a:p>
                      <a:r>
                        <a:rPr lang="en-US" dirty="0"/>
                        <a:t>Eng</a:t>
                      </a:r>
                    </a:p>
                  </a:txBody>
                  <a:tcPr/>
                </a:tc>
                <a:tc>
                  <a:txBody>
                    <a:bodyPr/>
                    <a:lstStyle/>
                    <a:p>
                      <a:endParaRPr lang="en-US" dirty="0"/>
                    </a:p>
                  </a:txBody>
                  <a:tcPr/>
                </a:tc>
                <a:extLst>
                  <a:ext uri="{0D108BD9-81ED-4DB2-BD59-A6C34878D82A}">
                    <a16:rowId xmlns:a16="http://schemas.microsoft.com/office/drawing/2014/main" val="3483369448"/>
                  </a:ext>
                </a:extLst>
              </a:tr>
              <a:tr h="370840">
                <a:tc>
                  <a:txBody>
                    <a:bodyPr/>
                    <a:lstStyle/>
                    <a:p>
                      <a:r>
                        <a:rPr lang="en-US" dirty="0"/>
                        <a:t>mike</a:t>
                      </a:r>
                    </a:p>
                  </a:txBody>
                  <a:tcPr/>
                </a:tc>
                <a:tc>
                  <a:txBody>
                    <a:bodyPr/>
                    <a:lstStyle/>
                    <a:p>
                      <a:r>
                        <a:rPr lang="en-US" dirty="0"/>
                        <a:t>92</a:t>
                      </a:r>
                    </a:p>
                  </a:txBody>
                  <a:tcPr/>
                </a:tc>
                <a:tc>
                  <a:txBody>
                    <a:bodyPr/>
                    <a:lstStyle/>
                    <a:p>
                      <a:r>
                        <a:rPr lang="en-US" dirty="0" err="1"/>
                        <a:t>Maths</a:t>
                      </a:r>
                      <a:endParaRPr lang="en-US" dirty="0"/>
                    </a:p>
                  </a:txBody>
                  <a:tcPr/>
                </a:tc>
                <a:tc>
                  <a:txBody>
                    <a:bodyPr/>
                    <a:lstStyle/>
                    <a:p>
                      <a:r>
                        <a:rPr lang="en-US" dirty="0"/>
                        <a:t>95%</a:t>
                      </a:r>
                    </a:p>
                  </a:txBody>
                  <a:tcPr/>
                </a:tc>
                <a:extLst>
                  <a:ext uri="{0D108BD9-81ED-4DB2-BD59-A6C34878D82A}">
                    <a16:rowId xmlns:a16="http://schemas.microsoft.com/office/drawing/2014/main" val="2692828319"/>
                  </a:ext>
                </a:extLst>
              </a:tr>
            </a:tbl>
          </a:graphicData>
        </a:graphic>
      </p:graphicFrame>
      <p:sp>
        <p:nvSpPr>
          <p:cNvPr id="5" name="TextBox 4">
            <a:extLst>
              <a:ext uri="{FF2B5EF4-FFF2-40B4-BE49-F238E27FC236}">
                <a16:creationId xmlns:a16="http://schemas.microsoft.com/office/drawing/2014/main" id="{B0424039-4241-5BC9-F9BD-266276ADCE34}"/>
              </a:ext>
            </a:extLst>
          </p:cNvPr>
          <p:cNvSpPr txBox="1"/>
          <p:nvPr/>
        </p:nvSpPr>
        <p:spPr>
          <a:xfrm>
            <a:off x="270932" y="771077"/>
            <a:ext cx="2645228" cy="5078313"/>
          </a:xfrm>
          <a:prstGeom prst="rect">
            <a:avLst/>
          </a:prstGeom>
          <a:noFill/>
        </p:spPr>
        <p:txBody>
          <a:bodyPr wrap="square" rtlCol="0">
            <a:spAutoFit/>
          </a:bodyPr>
          <a:lstStyle/>
          <a:p>
            <a:pPr marL="285750" indent="-285750">
              <a:buFont typeface="Arial" panose="020B0604020202020204" pitchFamily="34" charset="0"/>
              <a:buChar char="•"/>
            </a:pPr>
            <a:r>
              <a:rPr lang="en-US" dirty="0"/>
              <a:t>In my group we send out queries like this detailing our issues with the data to the person in charge of storing the clinical trials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Sometimes hard copies may not have been digitized correctly or entirely and therefore gaps exist.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kindly ask them to let us know what the original forms say.</a:t>
            </a:r>
          </a:p>
        </p:txBody>
      </p:sp>
      <p:sp>
        <p:nvSpPr>
          <p:cNvPr id="17" name="Rectangle 16">
            <a:extLst>
              <a:ext uri="{FF2B5EF4-FFF2-40B4-BE49-F238E27FC236}">
                <a16:creationId xmlns:a16="http://schemas.microsoft.com/office/drawing/2014/main" id="{9C7A5A03-B901-6A71-55AE-6CCF02AD144D}"/>
              </a:ext>
            </a:extLst>
          </p:cNvPr>
          <p:cNvSpPr/>
          <p:nvPr/>
        </p:nvSpPr>
        <p:spPr>
          <a:xfrm>
            <a:off x="4958861" y="3618230"/>
            <a:ext cx="3573917" cy="625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p:txBody>
      </p:sp>
      <p:pic>
        <p:nvPicPr>
          <p:cNvPr id="19" name="Picture 18">
            <a:extLst>
              <a:ext uri="{FF2B5EF4-FFF2-40B4-BE49-F238E27FC236}">
                <a16:creationId xmlns:a16="http://schemas.microsoft.com/office/drawing/2014/main" id="{35FDD4CE-F1D5-275E-F5A8-807B3EFA1368}"/>
              </a:ext>
            </a:extLst>
          </p:cNvPr>
          <p:cNvPicPr>
            <a:picLocks noChangeAspect="1"/>
          </p:cNvPicPr>
          <p:nvPr/>
        </p:nvPicPr>
        <p:blipFill>
          <a:blip r:embed="rId3"/>
          <a:stretch>
            <a:fillRect/>
          </a:stretch>
        </p:blipFill>
        <p:spPr>
          <a:xfrm>
            <a:off x="3890053" y="1085222"/>
            <a:ext cx="5193991" cy="5274252"/>
          </a:xfrm>
          <a:prstGeom prst="rect">
            <a:avLst/>
          </a:prstGeom>
        </p:spPr>
      </p:pic>
      <p:sp>
        <p:nvSpPr>
          <p:cNvPr id="20" name="TextBox 19">
            <a:extLst>
              <a:ext uri="{FF2B5EF4-FFF2-40B4-BE49-F238E27FC236}">
                <a16:creationId xmlns:a16="http://schemas.microsoft.com/office/drawing/2014/main" id="{EE7BB17D-F523-AFD1-80FE-6ED84420AFEC}"/>
              </a:ext>
            </a:extLst>
          </p:cNvPr>
          <p:cNvSpPr txBox="1"/>
          <p:nvPr/>
        </p:nvSpPr>
        <p:spPr>
          <a:xfrm>
            <a:off x="5427785" y="2602523"/>
            <a:ext cx="3345724" cy="276999"/>
          </a:xfrm>
          <a:prstGeom prst="rect">
            <a:avLst/>
          </a:prstGeom>
          <a:noFill/>
        </p:spPr>
        <p:txBody>
          <a:bodyPr wrap="none" rtlCol="0">
            <a:spAutoFit/>
          </a:bodyPr>
          <a:lstStyle/>
          <a:p>
            <a:r>
              <a:rPr lang="en-US" sz="1200" b="1" dirty="0"/>
              <a:t>** They fill this yellow box with their response</a:t>
            </a:r>
          </a:p>
        </p:txBody>
      </p:sp>
    </p:spTree>
    <p:extLst>
      <p:ext uri="{BB962C8B-B14F-4D97-AF65-F5344CB8AC3E}">
        <p14:creationId xmlns:p14="http://schemas.microsoft.com/office/powerpoint/2010/main" val="35699136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382937" y="103136"/>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8532708" y="103135"/>
            <a:ext cx="4873450"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What could I do about missing data</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8084278" y="103136"/>
            <a:ext cx="407483"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graphicFrame>
        <p:nvGraphicFramePr>
          <p:cNvPr id="11" name="Table 10">
            <a:extLst>
              <a:ext uri="{FF2B5EF4-FFF2-40B4-BE49-F238E27FC236}">
                <a16:creationId xmlns:a16="http://schemas.microsoft.com/office/drawing/2014/main" id="{C221F5DF-5E62-2A1C-354E-223BD9077939}"/>
              </a:ext>
            </a:extLst>
          </p:cNvPr>
          <p:cNvGraphicFramePr>
            <a:graphicFrameLocks noGrp="1"/>
          </p:cNvGraphicFramePr>
          <p:nvPr>
            <p:extLst>
              <p:ext uri="{D42A27DB-BD31-4B8C-83A1-F6EECF244321}">
                <p14:modId xmlns:p14="http://schemas.microsoft.com/office/powerpoint/2010/main" val="939723389"/>
              </p:ext>
            </p:extLst>
          </p:nvPr>
        </p:nvGraphicFramePr>
        <p:xfrm>
          <a:off x="2032000" y="2692193"/>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28327745"/>
                    </a:ext>
                  </a:extLst>
                </a:gridCol>
                <a:gridCol w="2032000">
                  <a:extLst>
                    <a:ext uri="{9D8B030D-6E8A-4147-A177-3AD203B41FA5}">
                      <a16:colId xmlns:a16="http://schemas.microsoft.com/office/drawing/2014/main" val="1536712801"/>
                    </a:ext>
                  </a:extLst>
                </a:gridCol>
                <a:gridCol w="2032000">
                  <a:extLst>
                    <a:ext uri="{9D8B030D-6E8A-4147-A177-3AD203B41FA5}">
                      <a16:colId xmlns:a16="http://schemas.microsoft.com/office/drawing/2014/main" val="1993599282"/>
                    </a:ext>
                  </a:extLst>
                </a:gridCol>
                <a:gridCol w="2032000">
                  <a:extLst>
                    <a:ext uri="{9D8B030D-6E8A-4147-A177-3AD203B41FA5}">
                      <a16:colId xmlns:a16="http://schemas.microsoft.com/office/drawing/2014/main" val="3178455241"/>
                    </a:ext>
                  </a:extLst>
                </a:gridCol>
              </a:tblGrid>
              <a:tr h="370840">
                <a:tc>
                  <a:txBody>
                    <a:bodyPr/>
                    <a:lstStyle/>
                    <a:p>
                      <a:r>
                        <a:rPr lang="en-US" dirty="0"/>
                        <a:t>Name</a:t>
                      </a:r>
                    </a:p>
                  </a:txBody>
                  <a:tcPr/>
                </a:tc>
                <a:tc>
                  <a:txBody>
                    <a:bodyPr/>
                    <a:lstStyle/>
                    <a:p>
                      <a:r>
                        <a:rPr lang="en-US" dirty="0"/>
                        <a:t>Score</a:t>
                      </a:r>
                    </a:p>
                  </a:txBody>
                  <a:tcPr/>
                </a:tc>
                <a:tc>
                  <a:txBody>
                    <a:bodyPr/>
                    <a:lstStyle/>
                    <a:p>
                      <a:r>
                        <a:rPr lang="en-US" dirty="0"/>
                        <a:t>Subject</a:t>
                      </a:r>
                    </a:p>
                  </a:txBody>
                  <a:tcPr/>
                </a:tc>
                <a:tc>
                  <a:txBody>
                    <a:bodyPr/>
                    <a:lstStyle/>
                    <a:p>
                      <a:r>
                        <a:rPr lang="en-US" dirty="0"/>
                        <a:t>Attendance</a:t>
                      </a:r>
                    </a:p>
                  </a:txBody>
                  <a:tcPr/>
                </a:tc>
                <a:extLst>
                  <a:ext uri="{0D108BD9-81ED-4DB2-BD59-A6C34878D82A}">
                    <a16:rowId xmlns:a16="http://schemas.microsoft.com/office/drawing/2014/main" val="4116318403"/>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2284626178"/>
                  </a:ext>
                </a:extLst>
              </a:tr>
              <a:tr h="370840">
                <a:tc>
                  <a:txBody>
                    <a:bodyPr/>
                    <a:lstStyle/>
                    <a:p>
                      <a:r>
                        <a:rPr lang="en-US" dirty="0"/>
                        <a:t>john</a:t>
                      </a:r>
                    </a:p>
                  </a:txBody>
                  <a:tcPr/>
                </a:tc>
                <a:tc>
                  <a:txBody>
                    <a:bodyPr/>
                    <a:lstStyle/>
                    <a:p>
                      <a:r>
                        <a:rPr lang="en-US" dirty="0"/>
                        <a:t>78</a:t>
                      </a:r>
                    </a:p>
                  </a:txBody>
                  <a:tcPr/>
                </a:tc>
                <a:tc>
                  <a:txBody>
                    <a:bodyPr/>
                    <a:lstStyle/>
                    <a:p>
                      <a:r>
                        <a:rPr lang="en-US" dirty="0" err="1"/>
                        <a:t>Maths</a:t>
                      </a:r>
                      <a:endParaRPr lang="en-US" dirty="0"/>
                    </a:p>
                  </a:txBody>
                  <a:tcPr/>
                </a:tc>
                <a:tc>
                  <a:txBody>
                    <a:bodyPr/>
                    <a:lstStyle/>
                    <a:p>
                      <a:r>
                        <a:rPr lang="en-US" dirty="0"/>
                        <a:t>90</a:t>
                      </a:r>
                    </a:p>
                  </a:txBody>
                  <a:tcPr/>
                </a:tc>
                <a:extLst>
                  <a:ext uri="{0D108BD9-81ED-4DB2-BD59-A6C34878D82A}">
                    <a16:rowId xmlns:a16="http://schemas.microsoft.com/office/drawing/2014/main" val="7594488"/>
                  </a:ext>
                </a:extLst>
              </a:tr>
              <a:tr h="370840">
                <a:tc>
                  <a:txBody>
                    <a:bodyPr/>
                    <a:lstStyle/>
                    <a:p>
                      <a:r>
                        <a:rPr lang="en-US" dirty="0"/>
                        <a:t>Sarah</a:t>
                      </a:r>
                    </a:p>
                  </a:txBody>
                  <a:tcPr/>
                </a:tc>
                <a:tc>
                  <a:txBody>
                    <a:bodyPr/>
                    <a:lstStyle/>
                    <a:p>
                      <a:r>
                        <a:rPr lang="en-US" dirty="0"/>
                        <a:t>NA</a:t>
                      </a:r>
                    </a:p>
                  </a:txBody>
                  <a:tcPr/>
                </a:tc>
                <a:tc>
                  <a:txBody>
                    <a:bodyPr/>
                    <a:lstStyle/>
                    <a:p>
                      <a:r>
                        <a:rPr lang="en-US" dirty="0"/>
                        <a:t>English</a:t>
                      </a:r>
                    </a:p>
                  </a:txBody>
                  <a:tcPr/>
                </a:tc>
                <a:tc>
                  <a:txBody>
                    <a:bodyPr/>
                    <a:lstStyle/>
                    <a:p>
                      <a:r>
                        <a:rPr lang="en-US" dirty="0"/>
                        <a:t>85%</a:t>
                      </a:r>
                    </a:p>
                  </a:txBody>
                  <a:tcPr/>
                </a:tc>
                <a:extLst>
                  <a:ext uri="{0D108BD9-81ED-4DB2-BD59-A6C34878D82A}">
                    <a16:rowId xmlns:a16="http://schemas.microsoft.com/office/drawing/2014/main" val="654150653"/>
                  </a:ext>
                </a:extLst>
              </a:tr>
              <a:tr h="370840">
                <a:tc>
                  <a:txBody>
                    <a:bodyPr/>
                    <a:lstStyle/>
                    <a:p>
                      <a:r>
                        <a:rPr lang="en-US" dirty="0"/>
                        <a:t>Jane</a:t>
                      </a:r>
                    </a:p>
                  </a:txBody>
                  <a:tcPr/>
                </a:tc>
                <a:tc>
                  <a:txBody>
                    <a:bodyPr/>
                    <a:lstStyle/>
                    <a:p>
                      <a:r>
                        <a:rPr lang="en-US" dirty="0"/>
                        <a:t>88</a:t>
                      </a:r>
                    </a:p>
                  </a:txBody>
                  <a:tcPr/>
                </a:tc>
                <a:tc>
                  <a:txBody>
                    <a:bodyPr/>
                    <a:lstStyle/>
                    <a:p>
                      <a:r>
                        <a:rPr lang="en-US" dirty="0"/>
                        <a:t>Eng</a:t>
                      </a:r>
                    </a:p>
                  </a:txBody>
                  <a:tcPr/>
                </a:tc>
                <a:tc>
                  <a:txBody>
                    <a:bodyPr/>
                    <a:lstStyle/>
                    <a:p>
                      <a:endParaRPr lang="en-US" dirty="0"/>
                    </a:p>
                  </a:txBody>
                  <a:tcPr/>
                </a:tc>
                <a:extLst>
                  <a:ext uri="{0D108BD9-81ED-4DB2-BD59-A6C34878D82A}">
                    <a16:rowId xmlns:a16="http://schemas.microsoft.com/office/drawing/2014/main" val="3483369448"/>
                  </a:ext>
                </a:extLst>
              </a:tr>
              <a:tr h="370840">
                <a:tc>
                  <a:txBody>
                    <a:bodyPr/>
                    <a:lstStyle/>
                    <a:p>
                      <a:r>
                        <a:rPr lang="en-US" dirty="0"/>
                        <a:t>mike</a:t>
                      </a:r>
                    </a:p>
                  </a:txBody>
                  <a:tcPr/>
                </a:tc>
                <a:tc>
                  <a:txBody>
                    <a:bodyPr/>
                    <a:lstStyle/>
                    <a:p>
                      <a:r>
                        <a:rPr lang="en-US" dirty="0"/>
                        <a:t>92</a:t>
                      </a:r>
                    </a:p>
                  </a:txBody>
                  <a:tcPr/>
                </a:tc>
                <a:tc>
                  <a:txBody>
                    <a:bodyPr/>
                    <a:lstStyle/>
                    <a:p>
                      <a:r>
                        <a:rPr lang="en-US" dirty="0" err="1"/>
                        <a:t>Maths</a:t>
                      </a:r>
                      <a:endParaRPr lang="en-US" dirty="0"/>
                    </a:p>
                  </a:txBody>
                  <a:tcPr/>
                </a:tc>
                <a:tc>
                  <a:txBody>
                    <a:bodyPr/>
                    <a:lstStyle/>
                    <a:p>
                      <a:r>
                        <a:rPr lang="en-US" dirty="0"/>
                        <a:t>95%</a:t>
                      </a:r>
                    </a:p>
                  </a:txBody>
                  <a:tcPr/>
                </a:tc>
                <a:extLst>
                  <a:ext uri="{0D108BD9-81ED-4DB2-BD59-A6C34878D82A}">
                    <a16:rowId xmlns:a16="http://schemas.microsoft.com/office/drawing/2014/main" val="2692828319"/>
                  </a:ext>
                </a:extLst>
              </a:tr>
            </a:tbl>
          </a:graphicData>
        </a:graphic>
      </p:graphicFrame>
      <p:sp>
        <p:nvSpPr>
          <p:cNvPr id="14" name="TextBox 13">
            <a:extLst>
              <a:ext uri="{FF2B5EF4-FFF2-40B4-BE49-F238E27FC236}">
                <a16:creationId xmlns:a16="http://schemas.microsoft.com/office/drawing/2014/main" id="{B5AD5E61-FFD8-D401-BB2D-358B64D5FED7}"/>
              </a:ext>
            </a:extLst>
          </p:cNvPr>
          <p:cNvSpPr txBox="1"/>
          <p:nvPr/>
        </p:nvSpPr>
        <p:spPr>
          <a:xfrm>
            <a:off x="2761343" y="742988"/>
            <a:ext cx="6669315" cy="1754326"/>
          </a:xfrm>
          <a:prstGeom prst="rect">
            <a:avLst/>
          </a:prstGeom>
          <a:noFill/>
        </p:spPr>
        <p:txBody>
          <a:bodyPr wrap="square">
            <a:spAutoFit/>
          </a:bodyPr>
          <a:lstStyle/>
          <a:p>
            <a:pPr algn="ctr"/>
            <a:r>
              <a:rPr lang="en-GB" dirty="0">
                <a:solidFill>
                  <a:srgbClr val="000000"/>
                </a:solidFill>
                <a:latin typeface="Times New Roman" panose="02020603050405020304" pitchFamily="18" charset="0"/>
                <a:cs typeface="Times New Roman" panose="02020603050405020304" pitchFamily="18" charset="0"/>
              </a:rPr>
              <a:t>Duplicate/Inconsistent names or entries (John vs john)</a:t>
            </a:r>
          </a:p>
          <a:p>
            <a:pPr algn="ctr"/>
            <a:r>
              <a:rPr lang="en-GB" dirty="0">
                <a:solidFill>
                  <a:srgbClr val="000000"/>
                </a:solidFill>
                <a:latin typeface="Times New Roman" panose="02020603050405020304" pitchFamily="18" charset="0"/>
                <a:cs typeface="Times New Roman" panose="02020603050405020304" pitchFamily="18" charset="0"/>
              </a:rPr>
              <a:t>Missing values (NA, blank attendance)</a:t>
            </a:r>
          </a:p>
          <a:p>
            <a:pPr algn="ctr"/>
            <a:r>
              <a:rPr lang="en-GB" dirty="0">
                <a:solidFill>
                  <a:srgbClr val="000000"/>
                </a:solidFill>
                <a:latin typeface="Times New Roman" panose="02020603050405020304" pitchFamily="18" charset="0"/>
                <a:cs typeface="Times New Roman" panose="02020603050405020304" pitchFamily="18" charset="0"/>
              </a:rPr>
              <a:t>Inconsistent subjects (Maths, maths, Eng)</a:t>
            </a:r>
          </a:p>
          <a:p>
            <a:pPr algn="ctr"/>
            <a:r>
              <a:rPr lang="en-GB" dirty="0">
                <a:solidFill>
                  <a:srgbClr val="000000"/>
                </a:solidFill>
                <a:latin typeface="Times New Roman" panose="02020603050405020304" pitchFamily="18" charset="0"/>
                <a:cs typeface="Times New Roman" panose="02020603050405020304" pitchFamily="18" charset="0"/>
              </a:rPr>
              <a:t>Mixed formats (90% vs 90)</a:t>
            </a:r>
          </a:p>
          <a:p>
            <a:pPr algn="ctr"/>
            <a:endParaRPr lang="en-GB"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These are just some examples of how data can be messy</a:t>
            </a:r>
          </a:p>
        </p:txBody>
      </p:sp>
      <p:sp>
        <p:nvSpPr>
          <p:cNvPr id="15" name="TextBox 14">
            <a:extLst>
              <a:ext uri="{FF2B5EF4-FFF2-40B4-BE49-F238E27FC236}">
                <a16:creationId xmlns:a16="http://schemas.microsoft.com/office/drawing/2014/main" id="{EA373C97-38E2-32DA-E380-F39C98BAB1D0}"/>
              </a:ext>
            </a:extLst>
          </p:cNvPr>
          <p:cNvSpPr txBox="1"/>
          <p:nvPr/>
        </p:nvSpPr>
        <p:spPr>
          <a:xfrm>
            <a:off x="2292923" y="5268293"/>
            <a:ext cx="7606154" cy="1200329"/>
          </a:xfrm>
          <a:prstGeom prst="rect">
            <a:avLst/>
          </a:prstGeom>
          <a:noFill/>
        </p:spPr>
        <p:txBody>
          <a:bodyPr wrap="square">
            <a:spAutoFit/>
          </a:bodyPr>
          <a:lstStyle/>
          <a:p>
            <a:pPr algn="ctr"/>
            <a:r>
              <a:rPr lang="en-GB" dirty="0">
                <a:solidFill>
                  <a:srgbClr val="000000"/>
                </a:solidFill>
                <a:latin typeface="Times New Roman" panose="02020603050405020304" pitchFamily="18" charset="0"/>
                <a:cs typeface="Times New Roman" panose="02020603050405020304" pitchFamily="18" charset="0"/>
              </a:rPr>
              <a:t>If we don’t clean this data and normalise entries averages will be wrong, categories will be split incorrectly and our results will be unreliable.</a:t>
            </a:r>
          </a:p>
          <a:p>
            <a:pPr algn="ctr"/>
            <a:endParaRPr lang="en-GB" dirty="0">
              <a:solidFill>
                <a:srgbClr val="000000"/>
              </a:solidFill>
              <a:latin typeface="Times New Roman" panose="02020603050405020304" pitchFamily="18" charset="0"/>
              <a:cs typeface="Times New Roman" panose="02020603050405020304" pitchFamily="18" charset="0"/>
            </a:endParaRPr>
          </a:p>
          <a:p>
            <a:pPr algn="ctr"/>
            <a:r>
              <a:rPr lang="en-GB" dirty="0">
                <a:solidFill>
                  <a:srgbClr val="000000"/>
                </a:solidFill>
                <a:latin typeface="Times New Roman" panose="02020603050405020304" pitchFamily="18" charset="0"/>
                <a:cs typeface="Times New Roman" panose="02020603050405020304" pitchFamily="18" charset="0"/>
              </a:rPr>
              <a:t>Bad data usually leads to bad decisions.</a:t>
            </a:r>
          </a:p>
        </p:txBody>
      </p:sp>
    </p:spTree>
    <p:extLst>
      <p:ext uri="{BB962C8B-B14F-4D97-AF65-F5344CB8AC3E}">
        <p14:creationId xmlns:p14="http://schemas.microsoft.com/office/powerpoint/2010/main" val="7170609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pic>
        <p:nvPicPr>
          <p:cNvPr id="12" name="Picture 11">
            <a:extLst>
              <a:ext uri="{FF2B5EF4-FFF2-40B4-BE49-F238E27FC236}">
                <a16:creationId xmlns:a16="http://schemas.microsoft.com/office/drawing/2014/main" id="{1C2B50E9-102B-F329-3DF3-398DF239B859}"/>
              </a:ext>
            </a:extLst>
          </p:cNvPr>
          <p:cNvPicPr>
            <a:picLocks noChangeAspect="1"/>
          </p:cNvPicPr>
          <p:nvPr/>
        </p:nvPicPr>
        <p:blipFill>
          <a:blip r:embed="rId3"/>
          <a:stretch>
            <a:fillRect/>
          </a:stretch>
        </p:blipFill>
        <p:spPr>
          <a:xfrm>
            <a:off x="270932" y="906537"/>
            <a:ext cx="3644245" cy="1686144"/>
          </a:xfrm>
          <a:prstGeom prst="rect">
            <a:avLst/>
          </a:prstGeom>
        </p:spPr>
      </p:pic>
      <p:sp>
        <p:nvSpPr>
          <p:cNvPr id="13" name="TextBox 12">
            <a:extLst>
              <a:ext uri="{FF2B5EF4-FFF2-40B4-BE49-F238E27FC236}">
                <a16:creationId xmlns:a16="http://schemas.microsoft.com/office/drawing/2014/main" id="{56EBAD98-8644-2520-DC9F-0775D06CE787}"/>
              </a:ext>
            </a:extLst>
          </p:cNvPr>
          <p:cNvSpPr txBox="1"/>
          <p:nvPr/>
        </p:nvSpPr>
        <p:spPr>
          <a:xfrm>
            <a:off x="4661013" y="906537"/>
            <a:ext cx="3277556" cy="369332"/>
          </a:xfrm>
          <a:prstGeom prst="rect">
            <a:avLst/>
          </a:prstGeom>
          <a:noFill/>
        </p:spPr>
        <p:txBody>
          <a:bodyPr wrap="square">
            <a:spAutoFit/>
          </a:bodyPr>
          <a:lstStyle/>
          <a:p>
            <a:pPr algn="ctr"/>
            <a:r>
              <a:rPr lang="en-GB" dirty="0">
                <a:solidFill>
                  <a:srgbClr val="000000"/>
                </a:solidFill>
                <a:latin typeface="Times New Roman" panose="02020603050405020304" pitchFamily="18" charset="0"/>
                <a:cs typeface="Times New Roman" panose="02020603050405020304" pitchFamily="18" charset="0"/>
              </a:rPr>
              <a:t>Open R and inspect the data</a:t>
            </a:r>
          </a:p>
        </p:txBody>
      </p:sp>
    </p:spTree>
    <p:extLst>
      <p:ext uri="{BB962C8B-B14F-4D97-AF65-F5344CB8AC3E}">
        <p14:creationId xmlns:p14="http://schemas.microsoft.com/office/powerpoint/2010/main" val="41366931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pic>
        <p:nvPicPr>
          <p:cNvPr id="11" name="Picture 10">
            <a:extLst>
              <a:ext uri="{FF2B5EF4-FFF2-40B4-BE49-F238E27FC236}">
                <a16:creationId xmlns:a16="http://schemas.microsoft.com/office/drawing/2014/main" id="{46EF8B66-9E59-2C20-7E84-A77AAB976216}"/>
              </a:ext>
            </a:extLst>
          </p:cNvPr>
          <p:cNvPicPr>
            <a:picLocks noChangeAspect="1"/>
          </p:cNvPicPr>
          <p:nvPr/>
        </p:nvPicPr>
        <p:blipFill>
          <a:blip r:embed="rId3"/>
          <a:stretch>
            <a:fillRect/>
          </a:stretch>
        </p:blipFill>
        <p:spPr>
          <a:xfrm>
            <a:off x="270932" y="1150338"/>
            <a:ext cx="11665004" cy="1412558"/>
          </a:xfrm>
          <a:prstGeom prst="rect">
            <a:avLst/>
          </a:prstGeom>
        </p:spPr>
      </p:pic>
    </p:spTree>
    <p:extLst>
      <p:ext uri="{BB962C8B-B14F-4D97-AF65-F5344CB8AC3E}">
        <p14:creationId xmlns:p14="http://schemas.microsoft.com/office/powerpoint/2010/main" val="56190965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pic>
        <p:nvPicPr>
          <p:cNvPr id="13" name="Picture 12">
            <a:extLst>
              <a:ext uri="{FF2B5EF4-FFF2-40B4-BE49-F238E27FC236}">
                <a16:creationId xmlns:a16="http://schemas.microsoft.com/office/drawing/2014/main" id="{53493B07-EFFE-508D-34FA-5D12B3417FF1}"/>
              </a:ext>
            </a:extLst>
          </p:cNvPr>
          <p:cNvPicPr>
            <a:picLocks noChangeAspect="1"/>
          </p:cNvPicPr>
          <p:nvPr/>
        </p:nvPicPr>
        <p:blipFill>
          <a:blip r:embed="rId3"/>
          <a:stretch>
            <a:fillRect/>
          </a:stretch>
        </p:blipFill>
        <p:spPr>
          <a:xfrm>
            <a:off x="134429" y="1037016"/>
            <a:ext cx="11923141" cy="1240326"/>
          </a:xfrm>
          <a:prstGeom prst="rect">
            <a:avLst/>
          </a:prstGeom>
        </p:spPr>
      </p:pic>
    </p:spTree>
    <p:extLst>
      <p:ext uri="{BB962C8B-B14F-4D97-AF65-F5344CB8AC3E}">
        <p14:creationId xmlns:p14="http://schemas.microsoft.com/office/powerpoint/2010/main" val="20821148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pic>
        <p:nvPicPr>
          <p:cNvPr id="15" name="Picture 14">
            <a:extLst>
              <a:ext uri="{FF2B5EF4-FFF2-40B4-BE49-F238E27FC236}">
                <a16:creationId xmlns:a16="http://schemas.microsoft.com/office/drawing/2014/main" id="{C7FD2B53-17D7-2C16-E366-E04610A02C35}"/>
              </a:ext>
            </a:extLst>
          </p:cNvPr>
          <p:cNvPicPr>
            <a:picLocks noChangeAspect="1"/>
          </p:cNvPicPr>
          <p:nvPr/>
        </p:nvPicPr>
        <p:blipFill>
          <a:blip r:embed="rId3"/>
          <a:stretch>
            <a:fillRect/>
          </a:stretch>
        </p:blipFill>
        <p:spPr>
          <a:xfrm>
            <a:off x="270931" y="1790164"/>
            <a:ext cx="11915151" cy="1815642"/>
          </a:xfrm>
          <a:prstGeom prst="rect">
            <a:avLst/>
          </a:prstGeom>
        </p:spPr>
      </p:pic>
    </p:spTree>
    <p:extLst>
      <p:ext uri="{BB962C8B-B14F-4D97-AF65-F5344CB8AC3E}">
        <p14:creationId xmlns:p14="http://schemas.microsoft.com/office/powerpoint/2010/main" val="37343049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pic>
        <p:nvPicPr>
          <p:cNvPr id="19" name="Picture 18">
            <a:extLst>
              <a:ext uri="{FF2B5EF4-FFF2-40B4-BE49-F238E27FC236}">
                <a16:creationId xmlns:a16="http://schemas.microsoft.com/office/drawing/2014/main" id="{38D7C230-E6A8-4431-9497-A5758CF7AE68}"/>
              </a:ext>
            </a:extLst>
          </p:cNvPr>
          <p:cNvPicPr>
            <a:picLocks noChangeAspect="1"/>
          </p:cNvPicPr>
          <p:nvPr/>
        </p:nvPicPr>
        <p:blipFill>
          <a:blip r:embed="rId3"/>
          <a:stretch>
            <a:fillRect/>
          </a:stretch>
        </p:blipFill>
        <p:spPr>
          <a:xfrm>
            <a:off x="904158" y="1958224"/>
            <a:ext cx="8879121" cy="2941551"/>
          </a:xfrm>
          <a:prstGeom prst="rect">
            <a:avLst/>
          </a:prstGeom>
        </p:spPr>
      </p:pic>
      <p:sp>
        <p:nvSpPr>
          <p:cNvPr id="5" name="TextBox 4">
            <a:extLst>
              <a:ext uri="{FF2B5EF4-FFF2-40B4-BE49-F238E27FC236}">
                <a16:creationId xmlns:a16="http://schemas.microsoft.com/office/drawing/2014/main" id="{C7322CDB-9356-1009-AB29-D9C7E82B0326}"/>
              </a:ext>
            </a:extLst>
          </p:cNvPr>
          <p:cNvSpPr txBox="1"/>
          <p:nvPr/>
        </p:nvSpPr>
        <p:spPr>
          <a:xfrm>
            <a:off x="3284112" y="4043966"/>
            <a:ext cx="843501" cy="369332"/>
          </a:xfrm>
          <a:prstGeom prst="rect">
            <a:avLst/>
          </a:prstGeom>
          <a:noFill/>
        </p:spPr>
        <p:txBody>
          <a:bodyPr wrap="none" rtlCol="0">
            <a:spAutoFit/>
          </a:bodyPr>
          <a:lstStyle/>
          <a:p>
            <a:r>
              <a:rPr lang="en-US" dirty="0"/>
              <a:t>clean_</a:t>
            </a:r>
          </a:p>
        </p:txBody>
      </p:sp>
    </p:spTree>
    <p:extLst>
      <p:ext uri="{BB962C8B-B14F-4D97-AF65-F5344CB8AC3E}">
        <p14:creationId xmlns:p14="http://schemas.microsoft.com/office/powerpoint/2010/main" val="4677916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9D4F-A4E6-2AD3-AF9C-A4328F119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22EA28-CA6A-40C6-1E31-C2B854DA0211}"/>
              </a:ext>
            </a:extLst>
          </p:cNvPr>
          <p:cNvSpPr/>
          <p:nvPr/>
        </p:nvSpPr>
        <p:spPr>
          <a:xfrm>
            <a:off x="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8C25CA-E224-888E-3B72-ECBA78331CAC}"/>
              </a:ext>
            </a:extLst>
          </p:cNvPr>
          <p:cNvSpPr txBox="1"/>
          <p:nvPr/>
        </p:nvSpPr>
        <p:spPr>
          <a:xfrm>
            <a:off x="5892307" y="103136"/>
            <a:ext cx="40748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R</a:t>
            </a:r>
          </a:p>
        </p:txBody>
      </p:sp>
      <p:sp>
        <p:nvSpPr>
          <p:cNvPr id="10" name="Rectangle 9">
            <a:extLst>
              <a:ext uri="{FF2B5EF4-FFF2-40B4-BE49-F238E27FC236}">
                <a16:creationId xmlns:a16="http://schemas.microsoft.com/office/drawing/2014/main" id="{25F6831D-AF6E-78F6-ADCC-93909F619166}"/>
              </a:ext>
            </a:extLst>
          </p:cNvPr>
          <p:cNvSpPr/>
          <p:nvPr/>
        </p:nvSpPr>
        <p:spPr>
          <a:xfrm>
            <a:off x="0" y="6543672"/>
            <a:ext cx="12192000" cy="314327"/>
          </a:xfrm>
          <a:prstGeom prst="rect">
            <a:avLst/>
          </a:prstGeom>
          <a:solidFill>
            <a:srgbClr val="16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0F7FC0-CCF3-61C6-A9C7-275871A3CF66}"/>
              </a:ext>
            </a:extLst>
          </p:cNvPr>
          <p:cNvSpPr txBox="1"/>
          <p:nvPr/>
        </p:nvSpPr>
        <p:spPr>
          <a:xfrm>
            <a:off x="0" y="6550223"/>
            <a:ext cx="90415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EL - 2026</a:t>
            </a:r>
          </a:p>
        </p:txBody>
      </p:sp>
      <p:sp>
        <p:nvSpPr>
          <p:cNvPr id="2" name="Rectangle 1">
            <a:extLst>
              <a:ext uri="{FF2B5EF4-FFF2-40B4-BE49-F238E27FC236}">
                <a16:creationId xmlns:a16="http://schemas.microsoft.com/office/drawing/2014/main" id="{84E5238C-D9A8-6068-4011-BCAA24F62C26}"/>
              </a:ext>
            </a:extLst>
          </p:cNvPr>
          <p:cNvSpPr/>
          <p:nvPr/>
        </p:nvSpPr>
        <p:spPr>
          <a:xfrm>
            <a:off x="-12056535" y="0"/>
            <a:ext cx="12327467"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86C5AC-8C62-392C-9D0A-10B673FC2717}"/>
              </a:ext>
            </a:extLst>
          </p:cNvPr>
          <p:cNvSpPr txBox="1"/>
          <p:nvPr/>
        </p:nvSpPr>
        <p:spPr>
          <a:xfrm>
            <a:off x="-6809093" y="103135"/>
            <a:ext cx="1426224"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Problems</a:t>
            </a:r>
          </a:p>
        </p:txBody>
      </p:sp>
      <p:sp>
        <p:nvSpPr>
          <p:cNvPr id="8" name="Rectangle 7">
            <a:extLst>
              <a:ext uri="{FF2B5EF4-FFF2-40B4-BE49-F238E27FC236}">
                <a16:creationId xmlns:a16="http://schemas.microsoft.com/office/drawing/2014/main" id="{E38FA715-7897-D80A-C752-F45379CA2176}"/>
              </a:ext>
            </a:extLst>
          </p:cNvPr>
          <p:cNvSpPr/>
          <p:nvPr/>
        </p:nvSpPr>
        <p:spPr>
          <a:xfrm>
            <a:off x="12192000" y="0"/>
            <a:ext cx="12192000" cy="667939"/>
          </a:xfrm>
          <a:prstGeom prst="rect">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3433FA-9EEB-AFE3-A943-B1C1763BF883}"/>
              </a:ext>
            </a:extLst>
          </p:cNvPr>
          <p:cNvSpPr txBox="1"/>
          <p:nvPr/>
        </p:nvSpPr>
        <p:spPr>
          <a:xfrm>
            <a:off x="17870277" y="103136"/>
            <a:ext cx="835485" cy="461665"/>
          </a:xfrm>
          <a:prstGeom prst="rect">
            <a:avLst/>
          </a:prstGeom>
          <a:noFill/>
        </p:spPr>
        <p:txBody>
          <a:bodyPr wrap="non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XYZ</a:t>
            </a:r>
          </a:p>
        </p:txBody>
      </p:sp>
      <p:sp>
        <p:nvSpPr>
          <p:cNvPr id="12" name="TextBox 11">
            <a:extLst>
              <a:ext uri="{FF2B5EF4-FFF2-40B4-BE49-F238E27FC236}">
                <a16:creationId xmlns:a16="http://schemas.microsoft.com/office/drawing/2014/main" id="{96C56B1A-5B28-6E21-BB1B-1EC079DD018C}"/>
              </a:ext>
            </a:extLst>
          </p:cNvPr>
          <p:cNvSpPr txBox="1"/>
          <p:nvPr/>
        </p:nvSpPr>
        <p:spPr>
          <a:xfrm>
            <a:off x="452078" y="3244334"/>
            <a:ext cx="9974621" cy="523220"/>
          </a:xfrm>
          <a:prstGeom prst="rect">
            <a:avLst/>
          </a:prstGeom>
          <a:noFill/>
        </p:spPr>
        <p:txBody>
          <a:bodyPr wrap="square">
            <a:spAutoFit/>
          </a:bodyPr>
          <a:lstStyle/>
          <a:p>
            <a:r>
              <a:rPr lang="en-US" sz="2800" dirty="0"/>
              <a:t>aggregate(Score ~ Subject, data = </a:t>
            </a:r>
            <a:r>
              <a:rPr lang="en-US" sz="2800" dirty="0" err="1"/>
              <a:t>clean_data</a:t>
            </a:r>
            <a:r>
              <a:rPr lang="en-US" sz="2800" dirty="0"/>
              <a:t>, mean)</a:t>
            </a:r>
          </a:p>
        </p:txBody>
      </p:sp>
    </p:spTree>
    <p:extLst>
      <p:ext uri="{BB962C8B-B14F-4D97-AF65-F5344CB8AC3E}">
        <p14:creationId xmlns:p14="http://schemas.microsoft.com/office/powerpoint/2010/main" val="245608140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2985</TotalTime>
  <Words>2048</Words>
  <Application>Microsoft Office PowerPoint</Application>
  <PresentationFormat>Widescreen</PresentationFormat>
  <Paragraphs>413</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Google Sans Code</vt:lpstr>
      <vt:lpstr>Google Sans Flex</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Ersi Loshaj</dc:creator>
  <cp:lastModifiedBy>Ersi Loshaj</cp:lastModifiedBy>
  <cp:revision>47</cp:revision>
  <dcterms:created xsi:type="dcterms:W3CDTF">2026-03-14T12:51:15Z</dcterms:created>
  <dcterms:modified xsi:type="dcterms:W3CDTF">2026-06-18T18:34:36Z</dcterms:modified>
</cp:coreProperties>
</file>